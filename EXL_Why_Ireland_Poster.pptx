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21383625" cy="302752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536">
          <p15:clr>
            <a:srgbClr val="A4A3A4"/>
          </p15:clr>
        </p15:guide>
        <p15:guide id="2" pos="6735">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 roundtripDataSignature="AMtx7mj9cv8v0KcVEENsUSUSNzEYMdwBv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8" d="100"/>
          <a:sy n="18" d="100"/>
        </p:scale>
        <p:origin x="2650" y="72"/>
      </p:cViewPr>
      <p:guideLst>
        <p:guide orient="horz" pos="9536"/>
        <p:guide pos="673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0" Type="http://customschemas.google.com/relationships/presentationmetadata" Target="meta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3254"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DA dark green">
  <p:cSld name="IDA dark green">
    <p:bg>
      <p:bgPr>
        <a:solidFill>
          <a:srgbClr val="051310"/>
        </a:solidFill>
        <a:effectLst/>
      </p:bgPr>
    </p:bg>
    <p:spTree>
      <p:nvGrpSpPr>
        <p:cNvPr id="1" name="Shape 15"/>
        <p:cNvGrpSpPr/>
        <p:nvPr/>
      </p:nvGrpSpPr>
      <p:grpSpPr>
        <a:xfrm>
          <a:off x="0" y="0"/>
          <a:ext cx="0" cy="0"/>
          <a:chOff x="0" y="0"/>
          <a:chExt cx="0" cy="0"/>
        </a:xfrm>
      </p:grpSpPr>
      <p:sp>
        <p:nvSpPr>
          <p:cNvPr id="16" name="Google Shape;16;p6"/>
          <p:cNvSpPr/>
          <p:nvPr/>
        </p:nvSpPr>
        <p:spPr>
          <a:xfrm>
            <a:off x="-1" y="27481427"/>
            <a:ext cx="21383625" cy="279378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7" name="Google Shape;17;p6" descr="A black background with blue text&#10;&#10;AI-generated content may be incorrect."/>
          <p:cNvPicPr preferRelativeResize="0"/>
          <p:nvPr/>
        </p:nvPicPr>
        <p:blipFill rotWithShape="1">
          <a:blip r:embed="rId2">
            <a:alphaModFix/>
          </a:blip>
          <a:srcRect t="22622" b="21168"/>
          <a:stretch/>
        </p:blipFill>
        <p:spPr>
          <a:xfrm>
            <a:off x="15490423" y="28158545"/>
            <a:ext cx="5378467" cy="1589260"/>
          </a:xfrm>
          <a:prstGeom prst="rect">
            <a:avLst/>
          </a:prstGeom>
          <a:noFill/>
          <a:ln>
            <a:noFill/>
          </a:ln>
        </p:spPr>
      </p:pic>
      <p:grpSp>
        <p:nvGrpSpPr>
          <p:cNvPr id="18" name="Google Shape;18;p6"/>
          <p:cNvGrpSpPr/>
          <p:nvPr/>
        </p:nvGrpSpPr>
        <p:grpSpPr>
          <a:xfrm>
            <a:off x="514735" y="28101942"/>
            <a:ext cx="5894606" cy="1630951"/>
            <a:chOff x="12154855" y="27664004"/>
            <a:chExt cx="8518270" cy="2356880"/>
          </a:xfrm>
        </p:grpSpPr>
        <p:pic>
          <p:nvPicPr>
            <p:cNvPr id="19" name="Google Shape;19;p6" descr="Images and logos | UCD Smurfit School"/>
            <p:cNvPicPr preferRelativeResize="0"/>
            <p:nvPr/>
          </p:nvPicPr>
          <p:blipFill rotWithShape="1">
            <a:blip r:embed="rId3">
              <a:alphaModFix/>
            </a:blip>
            <a:srcRect r="71129"/>
            <a:stretch/>
          </p:blipFill>
          <p:spPr>
            <a:xfrm>
              <a:off x="12154855" y="27710669"/>
              <a:ext cx="1667472" cy="2310215"/>
            </a:xfrm>
            <a:prstGeom prst="rect">
              <a:avLst/>
            </a:prstGeom>
            <a:noFill/>
            <a:ln>
              <a:noFill/>
            </a:ln>
          </p:spPr>
        </p:pic>
        <p:pic>
          <p:nvPicPr>
            <p:cNvPr id="20" name="Google Shape;20;p6" descr="Images and logos | UCD Smurfit School"/>
            <p:cNvPicPr preferRelativeResize="0"/>
            <p:nvPr/>
          </p:nvPicPr>
          <p:blipFill rotWithShape="1">
            <a:blip r:embed="rId3">
              <a:alphaModFix/>
            </a:blip>
            <a:srcRect l="28442" t="16555" b="27295"/>
            <a:stretch/>
          </p:blipFill>
          <p:spPr>
            <a:xfrm>
              <a:off x="13864858" y="27664004"/>
              <a:ext cx="6808267" cy="2136891"/>
            </a:xfrm>
            <a:prstGeom prst="rect">
              <a:avLst/>
            </a:prstGeom>
            <a:noFill/>
            <a:ln>
              <a:noFill/>
            </a:ln>
          </p:spPr>
        </p:pic>
      </p:grpSp>
      <p:grpSp>
        <p:nvGrpSpPr>
          <p:cNvPr id="21" name="Google Shape;21;p6"/>
          <p:cNvGrpSpPr/>
          <p:nvPr/>
        </p:nvGrpSpPr>
        <p:grpSpPr>
          <a:xfrm>
            <a:off x="6839441" y="28174622"/>
            <a:ext cx="7733157" cy="1307722"/>
            <a:chOff x="6839441" y="28524001"/>
            <a:chExt cx="7733157" cy="1307722"/>
          </a:xfrm>
        </p:grpSpPr>
        <p:pic>
          <p:nvPicPr>
            <p:cNvPr id="22" name="Google Shape;22;p6" descr="A black and white logo&#10;&#10;AI-generated content may be incorrect."/>
            <p:cNvPicPr preferRelativeResize="0"/>
            <p:nvPr/>
          </p:nvPicPr>
          <p:blipFill rotWithShape="1">
            <a:blip r:embed="rId4">
              <a:alphaModFix/>
            </a:blip>
            <a:srcRect l="12273"/>
            <a:stretch/>
          </p:blipFill>
          <p:spPr>
            <a:xfrm>
              <a:off x="7754109" y="28524001"/>
              <a:ext cx="6818489" cy="1307722"/>
            </a:xfrm>
            <a:prstGeom prst="rect">
              <a:avLst/>
            </a:prstGeom>
            <a:noFill/>
            <a:ln>
              <a:noFill/>
            </a:ln>
          </p:spPr>
        </p:pic>
        <p:pic>
          <p:nvPicPr>
            <p:cNvPr id="23" name="Google Shape;23;p6" descr="A green logo with black background&#10;&#10;AI-generated content may be incorrect."/>
            <p:cNvPicPr preferRelativeResize="0"/>
            <p:nvPr/>
          </p:nvPicPr>
          <p:blipFill rotWithShape="1">
            <a:blip r:embed="rId5">
              <a:alphaModFix/>
            </a:blip>
            <a:srcRect/>
            <a:stretch/>
          </p:blipFill>
          <p:spPr>
            <a:xfrm>
              <a:off x="6839441" y="28555193"/>
              <a:ext cx="914669" cy="925063"/>
            </a:xfrm>
            <a:prstGeom prst="rect">
              <a:avLst/>
            </a:prstGeom>
            <a:noFill/>
            <a:ln>
              <a:noFill/>
            </a:ln>
          </p:spPr>
        </p:pic>
      </p:grpSp>
    </p:spTree>
  </p:cSld>
  <p:clrMapOvr>
    <a:masterClrMapping/>
  </p:clrMapOvr>
  <p:extLst>
    <p:ext uri="{DCECCB84-F9BA-43D5-87BE-67443E8EF086}">
      <p15:sldGuideLst xmlns:p15="http://schemas.microsoft.com/office/powerpoint/2012/main">
        <p15:guide id="1" orient="horz" pos="18675">
          <p15:clr>
            <a:srgbClr val="FBAE40"/>
          </p15:clr>
        </p15:guide>
        <p15:guide id="2" pos="67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dt" idx="10"/>
          </p:nvPr>
        </p:nvSpPr>
        <p:spPr>
          <a:xfrm>
            <a:off x="1470124" y="28060644"/>
            <a:ext cx="4811316" cy="161187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8"/>
          <p:cNvSpPr txBox="1">
            <a:spLocks noGrp="1"/>
          </p:cNvSpPr>
          <p:nvPr>
            <p:ph type="ftr" idx="11"/>
          </p:nvPr>
        </p:nvSpPr>
        <p:spPr>
          <a:xfrm>
            <a:off x="7083326" y="28060644"/>
            <a:ext cx="7216973" cy="161187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8"/>
          <p:cNvSpPr txBox="1">
            <a:spLocks noGrp="1"/>
          </p:cNvSpPr>
          <p:nvPr>
            <p:ph type="sldNum" idx="12"/>
          </p:nvPr>
        </p:nvSpPr>
        <p:spPr>
          <a:xfrm>
            <a:off x="15102185" y="28060644"/>
            <a:ext cx="4811316" cy="161187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1470124" y="1611882"/>
            <a:ext cx="18443377" cy="585180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0289"/>
              <a:buFont typeface="Calibri"/>
              <a:buNone/>
              <a:defRPr sz="1028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
          <p:cNvSpPr txBox="1">
            <a:spLocks noGrp="1"/>
          </p:cNvSpPr>
          <p:nvPr>
            <p:ph type="body" idx="1"/>
          </p:nvPr>
        </p:nvSpPr>
        <p:spPr>
          <a:xfrm>
            <a:off x="1470124" y="8059374"/>
            <a:ext cx="18443377" cy="19209345"/>
          </a:xfrm>
          <a:prstGeom prst="rect">
            <a:avLst/>
          </a:prstGeom>
          <a:noFill/>
          <a:ln>
            <a:noFill/>
          </a:ln>
        </p:spPr>
        <p:txBody>
          <a:bodyPr spcFirstLastPara="1" wrap="square" lIns="91425" tIns="45700" rIns="91425" bIns="45700" anchor="t" anchorCtr="0">
            <a:normAutofit/>
          </a:bodyPr>
          <a:lstStyle>
            <a:lvl1pPr marL="457200" marR="0" lvl="0" indent="-644398" algn="l" rtl="0">
              <a:lnSpc>
                <a:spcPct val="90000"/>
              </a:lnSpc>
              <a:spcBef>
                <a:spcPts val="2339"/>
              </a:spcBef>
              <a:spcAft>
                <a:spcPts val="0"/>
              </a:spcAft>
              <a:buClr>
                <a:schemeClr val="dk1"/>
              </a:buClr>
              <a:buSzPts val="6548"/>
              <a:buFont typeface="Arial"/>
              <a:buChar char="•"/>
              <a:defRPr sz="6548" b="0" i="0" u="none" strike="noStrike" cap="none">
                <a:solidFill>
                  <a:schemeClr val="dk1"/>
                </a:solidFill>
                <a:latin typeface="Calibri"/>
                <a:ea typeface="Calibri"/>
                <a:cs typeface="Calibri"/>
                <a:sym typeface="Calibri"/>
              </a:defRPr>
            </a:lvl1pPr>
            <a:lvl2pPr marL="914400" marR="0" lvl="1" indent="-584962" algn="l" rtl="0">
              <a:lnSpc>
                <a:spcPct val="90000"/>
              </a:lnSpc>
              <a:spcBef>
                <a:spcPts val="1169"/>
              </a:spcBef>
              <a:spcAft>
                <a:spcPts val="0"/>
              </a:spcAft>
              <a:buClr>
                <a:schemeClr val="dk1"/>
              </a:buClr>
              <a:buSzPts val="5612"/>
              <a:buFont typeface="Arial"/>
              <a:buChar char="•"/>
              <a:defRPr sz="5612" b="0" i="0" u="none" strike="noStrike" cap="none">
                <a:solidFill>
                  <a:schemeClr val="dk1"/>
                </a:solidFill>
                <a:latin typeface="Calibri"/>
                <a:ea typeface="Calibri"/>
                <a:cs typeface="Calibri"/>
                <a:sym typeface="Calibri"/>
              </a:defRPr>
            </a:lvl2pPr>
            <a:lvl3pPr marL="1371600" marR="0" lvl="2" indent="-525590" algn="l" rtl="0">
              <a:lnSpc>
                <a:spcPct val="90000"/>
              </a:lnSpc>
              <a:spcBef>
                <a:spcPts val="1169"/>
              </a:spcBef>
              <a:spcAft>
                <a:spcPts val="0"/>
              </a:spcAft>
              <a:buClr>
                <a:schemeClr val="dk1"/>
              </a:buClr>
              <a:buSzPts val="4677"/>
              <a:buFont typeface="Arial"/>
              <a:buChar char="•"/>
              <a:defRPr sz="4677" b="0" i="0" u="none" strike="noStrike" cap="none">
                <a:solidFill>
                  <a:schemeClr val="dk1"/>
                </a:solidFill>
                <a:latin typeface="Calibri"/>
                <a:ea typeface="Calibri"/>
                <a:cs typeface="Calibri"/>
                <a:sym typeface="Calibri"/>
              </a:defRPr>
            </a:lvl3pPr>
            <a:lvl4pPr marL="1828800" marR="0" lvl="3" indent="-495872"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4pPr>
            <a:lvl5pPr marL="2286000" marR="0" lvl="4" indent="-495872"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5pPr>
            <a:lvl6pPr marL="2743200" marR="0" lvl="5" indent="-495872"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6pPr>
            <a:lvl7pPr marL="3200400" marR="0" lvl="6" indent="-495872"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7pPr>
            <a:lvl8pPr marL="3657600" marR="0" lvl="7" indent="-495872"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8pPr>
            <a:lvl9pPr marL="4114800" marR="0" lvl="8" indent="-495872"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9pPr>
          </a:lstStyle>
          <a:p>
            <a:endParaRPr/>
          </a:p>
        </p:txBody>
      </p:sp>
      <p:sp>
        <p:nvSpPr>
          <p:cNvPr id="12" name="Google Shape;12;p5"/>
          <p:cNvSpPr txBox="1">
            <a:spLocks noGrp="1"/>
          </p:cNvSpPr>
          <p:nvPr>
            <p:ph type="dt" idx="10"/>
          </p:nvPr>
        </p:nvSpPr>
        <p:spPr>
          <a:xfrm>
            <a:off x="1470124" y="28060644"/>
            <a:ext cx="4811316" cy="161187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806"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
          <p:cNvSpPr txBox="1">
            <a:spLocks noGrp="1"/>
          </p:cNvSpPr>
          <p:nvPr>
            <p:ph type="ftr" idx="11"/>
          </p:nvPr>
        </p:nvSpPr>
        <p:spPr>
          <a:xfrm>
            <a:off x="7083326" y="28060644"/>
            <a:ext cx="7216973" cy="161187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806"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
          <p:cNvSpPr txBox="1">
            <a:spLocks noGrp="1"/>
          </p:cNvSpPr>
          <p:nvPr>
            <p:ph type="sldNum" idx="12"/>
          </p:nvPr>
        </p:nvSpPr>
        <p:spPr>
          <a:xfrm>
            <a:off x="15102185" y="28060644"/>
            <a:ext cx="4811316" cy="161187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806" b="0" i="0" u="none" strike="noStrike" cap="none">
                <a:solidFill>
                  <a:srgbClr val="888888"/>
                </a:solidFill>
                <a:latin typeface="Calibri"/>
                <a:ea typeface="Calibri"/>
                <a:cs typeface="Calibri"/>
                <a:sym typeface="Calibri"/>
              </a:defRPr>
            </a:lvl1pPr>
            <a:lvl2pPr marL="0" marR="0" lvl="1" indent="0" algn="r" rtl="0">
              <a:spcBef>
                <a:spcPts val="0"/>
              </a:spcBef>
              <a:buNone/>
              <a:defRPr sz="2806" b="0" i="0" u="none" strike="noStrike" cap="none">
                <a:solidFill>
                  <a:srgbClr val="888888"/>
                </a:solidFill>
                <a:latin typeface="Calibri"/>
                <a:ea typeface="Calibri"/>
                <a:cs typeface="Calibri"/>
                <a:sym typeface="Calibri"/>
              </a:defRPr>
            </a:lvl2pPr>
            <a:lvl3pPr marL="0" marR="0" lvl="2" indent="0" algn="r" rtl="0">
              <a:spcBef>
                <a:spcPts val="0"/>
              </a:spcBef>
              <a:buNone/>
              <a:defRPr sz="2806" b="0" i="0" u="none" strike="noStrike" cap="none">
                <a:solidFill>
                  <a:srgbClr val="888888"/>
                </a:solidFill>
                <a:latin typeface="Calibri"/>
                <a:ea typeface="Calibri"/>
                <a:cs typeface="Calibri"/>
                <a:sym typeface="Calibri"/>
              </a:defRPr>
            </a:lvl3pPr>
            <a:lvl4pPr marL="0" marR="0" lvl="3" indent="0" algn="r" rtl="0">
              <a:spcBef>
                <a:spcPts val="0"/>
              </a:spcBef>
              <a:buNone/>
              <a:defRPr sz="2806" b="0" i="0" u="none" strike="noStrike" cap="none">
                <a:solidFill>
                  <a:srgbClr val="888888"/>
                </a:solidFill>
                <a:latin typeface="Calibri"/>
                <a:ea typeface="Calibri"/>
                <a:cs typeface="Calibri"/>
                <a:sym typeface="Calibri"/>
              </a:defRPr>
            </a:lvl4pPr>
            <a:lvl5pPr marL="0" marR="0" lvl="4" indent="0" algn="r" rtl="0">
              <a:spcBef>
                <a:spcPts val="0"/>
              </a:spcBef>
              <a:buNone/>
              <a:defRPr sz="2806" b="0" i="0" u="none" strike="noStrike" cap="none">
                <a:solidFill>
                  <a:srgbClr val="888888"/>
                </a:solidFill>
                <a:latin typeface="Calibri"/>
                <a:ea typeface="Calibri"/>
                <a:cs typeface="Calibri"/>
                <a:sym typeface="Calibri"/>
              </a:defRPr>
            </a:lvl5pPr>
            <a:lvl6pPr marL="0" marR="0" lvl="5" indent="0" algn="r" rtl="0">
              <a:spcBef>
                <a:spcPts val="0"/>
              </a:spcBef>
              <a:buNone/>
              <a:defRPr sz="2806" b="0" i="0" u="none" strike="noStrike" cap="none">
                <a:solidFill>
                  <a:srgbClr val="888888"/>
                </a:solidFill>
                <a:latin typeface="Calibri"/>
                <a:ea typeface="Calibri"/>
                <a:cs typeface="Calibri"/>
                <a:sym typeface="Calibri"/>
              </a:defRPr>
            </a:lvl6pPr>
            <a:lvl7pPr marL="0" marR="0" lvl="6" indent="0" algn="r" rtl="0">
              <a:spcBef>
                <a:spcPts val="0"/>
              </a:spcBef>
              <a:buNone/>
              <a:defRPr sz="2806" b="0" i="0" u="none" strike="noStrike" cap="none">
                <a:solidFill>
                  <a:srgbClr val="888888"/>
                </a:solidFill>
                <a:latin typeface="Calibri"/>
                <a:ea typeface="Calibri"/>
                <a:cs typeface="Calibri"/>
                <a:sym typeface="Calibri"/>
              </a:defRPr>
            </a:lvl7pPr>
            <a:lvl8pPr marL="0" marR="0" lvl="7" indent="0" algn="r" rtl="0">
              <a:spcBef>
                <a:spcPts val="0"/>
              </a:spcBef>
              <a:buNone/>
              <a:defRPr sz="2806" b="0" i="0" u="none" strike="noStrike" cap="none">
                <a:solidFill>
                  <a:srgbClr val="888888"/>
                </a:solidFill>
                <a:latin typeface="Calibri"/>
                <a:ea typeface="Calibri"/>
                <a:cs typeface="Calibri"/>
                <a:sym typeface="Calibri"/>
              </a:defRPr>
            </a:lvl8pPr>
            <a:lvl9pPr marL="0" marR="0" lvl="8" indent="0" algn="r" rtl="0">
              <a:spcBef>
                <a:spcPts val="0"/>
              </a:spcBef>
              <a:buNone/>
              <a:defRPr sz="2806"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9535">
          <p15:clr>
            <a:srgbClr val="F26B43"/>
          </p15:clr>
        </p15:guide>
        <p15:guide id="2" pos="6735">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grpSp>
        <p:nvGrpSpPr>
          <p:cNvPr id="42" name="Google Shape;42;p1"/>
          <p:cNvGrpSpPr/>
          <p:nvPr/>
        </p:nvGrpSpPr>
        <p:grpSpPr>
          <a:xfrm>
            <a:off x="1698171" y="1359694"/>
            <a:ext cx="6531429" cy="2370360"/>
            <a:chOff x="0" y="-219075"/>
            <a:chExt cx="8708572" cy="3160480"/>
          </a:xfrm>
        </p:grpSpPr>
        <p:sp>
          <p:nvSpPr>
            <p:cNvPr id="43" name="Google Shape;43;p1"/>
            <p:cNvSpPr/>
            <p:nvPr/>
          </p:nvSpPr>
          <p:spPr>
            <a:xfrm>
              <a:off x="0" y="0"/>
              <a:ext cx="8708572" cy="2941405"/>
            </a:xfrm>
            <a:custGeom>
              <a:avLst/>
              <a:gdLst/>
              <a:ahLst/>
              <a:cxnLst/>
              <a:rect l="l" t="t" r="r" b="b"/>
              <a:pathLst>
                <a:path w="8708572" h="2941405" extrusionOk="0">
                  <a:moveTo>
                    <a:pt x="0" y="0"/>
                  </a:moveTo>
                  <a:lnTo>
                    <a:pt x="8708572" y="0"/>
                  </a:lnTo>
                  <a:lnTo>
                    <a:pt x="8708572" y="2941405"/>
                  </a:lnTo>
                  <a:lnTo>
                    <a:pt x="0" y="2941405"/>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 name="Google Shape;44;p1"/>
            <p:cNvSpPr txBox="1"/>
            <p:nvPr/>
          </p:nvSpPr>
          <p:spPr>
            <a:xfrm>
              <a:off x="0" y="-219075"/>
              <a:ext cx="8708572" cy="3160480"/>
            </a:xfrm>
            <a:prstGeom prst="rect">
              <a:avLst/>
            </a:prstGeom>
            <a:noFill/>
            <a:ln>
              <a:noFill/>
            </a:ln>
          </p:spPr>
          <p:txBody>
            <a:bodyPr spcFirstLastPara="1" wrap="square" lIns="0" tIns="0" rIns="0" bIns="0" anchor="t" anchorCtr="0">
              <a:noAutofit/>
            </a:bodyPr>
            <a:lstStyle/>
            <a:p>
              <a:pPr marL="0" marR="0" lvl="0" indent="0" algn="l" rtl="0">
                <a:lnSpc>
                  <a:spcPct val="7666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5" name="Google Shape;45;p1"/>
          <p:cNvGrpSpPr/>
          <p:nvPr/>
        </p:nvGrpSpPr>
        <p:grpSpPr>
          <a:xfrm>
            <a:off x="3659119" y="1529046"/>
            <a:ext cx="15389893" cy="4075473"/>
            <a:chOff x="0" y="-190500"/>
            <a:chExt cx="20386782" cy="6834209"/>
          </a:xfrm>
        </p:grpSpPr>
        <p:sp>
          <p:nvSpPr>
            <p:cNvPr id="46" name="Google Shape;46;p1"/>
            <p:cNvSpPr/>
            <p:nvPr/>
          </p:nvSpPr>
          <p:spPr>
            <a:xfrm>
              <a:off x="0" y="0"/>
              <a:ext cx="20386782" cy="6384530"/>
            </a:xfrm>
            <a:custGeom>
              <a:avLst/>
              <a:gdLst/>
              <a:ahLst/>
              <a:cxnLst/>
              <a:rect l="l" t="t" r="r" b="b"/>
              <a:pathLst>
                <a:path w="20386782" h="6384530" extrusionOk="0">
                  <a:moveTo>
                    <a:pt x="0" y="0"/>
                  </a:moveTo>
                  <a:lnTo>
                    <a:pt x="20386782" y="0"/>
                  </a:lnTo>
                  <a:lnTo>
                    <a:pt x="20386782" y="6384530"/>
                  </a:lnTo>
                  <a:lnTo>
                    <a:pt x="0" y="638453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 name="Google Shape;47;p1"/>
            <p:cNvSpPr txBox="1"/>
            <p:nvPr/>
          </p:nvSpPr>
          <p:spPr>
            <a:xfrm>
              <a:off x="0" y="-190500"/>
              <a:ext cx="20386782" cy="683420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4800" b="1">
                  <a:solidFill>
                    <a:srgbClr val="FFFFFF"/>
                  </a:solidFill>
                  <a:latin typeface="Questrial"/>
                  <a:ea typeface="Questrial"/>
                  <a:cs typeface="Questrial"/>
                  <a:sym typeface="Questrial"/>
                </a:rPr>
                <a:t>EXL is deepening its roots in Ireland with new international headquarters and an AI Innovation Lab in Dublin, underscoring our belief in the city’s AI talent and our commitment to delivering AI solutions worldwide.</a:t>
              </a:r>
              <a:endParaRPr/>
            </a:p>
            <a:p>
              <a:pPr marL="0" marR="0" lvl="0" indent="0" algn="l" rtl="0">
                <a:spcBef>
                  <a:spcPts val="0"/>
                </a:spcBef>
                <a:spcAft>
                  <a:spcPts val="0"/>
                </a:spcAft>
                <a:buNone/>
              </a:pPr>
              <a:r>
                <a:rPr lang="en-US" sz="4800" b="1">
                  <a:solidFill>
                    <a:srgbClr val="92D050"/>
                  </a:solidFill>
                  <a:latin typeface="Questrial"/>
                  <a:ea typeface="Questrial"/>
                  <a:cs typeface="Questrial"/>
                  <a:sym typeface="Questrial"/>
                </a:rPr>
                <a:t>-- Rohit Kapoor, Chairman and CEO, EXL</a:t>
              </a:r>
              <a:endParaRPr/>
            </a:p>
          </p:txBody>
        </p:sp>
      </p:grpSp>
      <p:sp>
        <p:nvSpPr>
          <p:cNvPr id="48" name="Google Shape;48;p1"/>
          <p:cNvSpPr/>
          <p:nvPr/>
        </p:nvSpPr>
        <p:spPr>
          <a:xfrm>
            <a:off x="1311390" y="758977"/>
            <a:ext cx="1763867" cy="1269984"/>
          </a:xfrm>
          <a:custGeom>
            <a:avLst/>
            <a:gdLst/>
            <a:ahLst/>
            <a:cxnLst/>
            <a:rect l="l" t="t" r="r" b="b"/>
            <a:pathLst>
              <a:path w="1763867" h="1269984" extrusionOk="0">
                <a:moveTo>
                  <a:pt x="0" y="0"/>
                </a:moveTo>
                <a:lnTo>
                  <a:pt x="1763867" y="0"/>
                </a:lnTo>
                <a:lnTo>
                  <a:pt x="1763867" y="1269984"/>
                </a:lnTo>
                <a:lnTo>
                  <a:pt x="0" y="1269984"/>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49" name="Google Shape;49;p1"/>
          <p:cNvGrpSpPr/>
          <p:nvPr/>
        </p:nvGrpSpPr>
        <p:grpSpPr>
          <a:xfrm>
            <a:off x="2707100" y="11412574"/>
            <a:ext cx="3718804" cy="3718804"/>
            <a:chOff x="0" y="0"/>
            <a:chExt cx="812800" cy="812800"/>
          </a:xfrm>
        </p:grpSpPr>
        <p:sp>
          <p:nvSpPr>
            <p:cNvPr id="50" name="Google Shape;5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021410">
                    <a:alpha val="81960"/>
                  </a:srgbClr>
                </a:gs>
                <a:gs pos="100000">
                  <a:srgbClr val="FFFFFF">
                    <a:alpha val="81960"/>
                  </a:srgbClr>
                </a:gs>
              </a:gsLst>
              <a:lin ang="0" scaled="0"/>
            </a:gradFill>
            <a:ln>
              <a:noFill/>
            </a:ln>
          </p:spPr>
          <p:txBody>
            <a:bodyPr spcFirstLastPara="1" wrap="square" lIns="78550" tIns="39250" rIns="78550" bIns="39250" anchor="t" anchorCtr="0">
              <a:noAutofit/>
            </a:bodyPr>
            <a:lstStyle/>
            <a:p>
              <a:pPr marL="0" marR="0" lvl="0" indent="0" algn="l" rtl="0">
                <a:spcBef>
                  <a:spcPts val="0"/>
                </a:spcBef>
                <a:spcAft>
                  <a:spcPts val="0"/>
                </a:spcAft>
                <a:buNone/>
              </a:pPr>
              <a:endParaRPr sz="1546">
                <a:solidFill>
                  <a:schemeClr val="dk1"/>
                </a:solidFill>
                <a:latin typeface="Calibri"/>
                <a:ea typeface="Calibri"/>
                <a:cs typeface="Calibri"/>
                <a:sym typeface="Calibri"/>
              </a:endParaRPr>
            </a:p>
          </p:txBody>
        </p:sp>
        <p:sp>
          <p:nvSpPr>
            <p:cNvPr id="51" name="Google Shape;51;p1"/>
            <p:cNvSpPr txBox="1"/>
            <p:nvPr/>
          </p:nvSpPr>
          <p:spPr>
            <a:xfrm>
              <a:off x="76200" y="76200"/>
              <a:ext cx="660400" cy="660400"/>
            </a:xfrm>
            <a:prstGeom prst="rect">
              <a:avLst/>
            </a:prstGeom>
            <a:noFill/>
            <a:ln>
              <a:noFill/>
            </a:ln>
          </p:spPr>
          <p:txBody>
            <a:bodyPr spcFirstLastPara="1" wrap="square" lIns="43650" tIns="43650" rIns="43650" bIns="43650" anchor="ctr" anchorCtr="0">
              <a:noAutofit/>
            </a:bodyPr>
            <a:lstStyle/>
            <a:p>
              <a:pPr marL="0" marR="0" lvl="0" indent="0" algn="ctr" rtl="0">
                <a:lnSpc>
                  <a:spcPct val="266611"/>
                </a:lnSpc>
                <a:spcBef>
                  <a:spcPts val="0"/>
                </a:spcBef>
                <a:spcAft>
                  <a:spcPts val="0"/>
                </a:spcAft>
                <a:buNone/>
              </a:pPr>
              <a:endParaRPr sz="1546">
                <a:solidFill>
                  <a:schemeClr val="dk1"/>
                </a:solidFill>
                <a:latin typeface="Calibri"/>
                <a:ea typeface="Calibri"/>
                <a:cs typeface="Calibri"/>
                <a:sym typeface="Calibri"/>
              </a:endParaRPr>
            </a:p>
          </p:txBody>
        </p:sp>
      </p:grpSp>
      <p:grpSp>
        <p:nvGrpSpPr>
          <p:cNvPr id="52" name="Google Shape;52;p1"/>
          <p:cNvGrpSpPr/>
          <p:nvPr/>
        </p:nvGrpSpPr>
        <p:grpSpPr>
          <a:xfrm rot="1589693">
            <a:off x="14143685" y="4867731"/>
            <a:ext cx="4778584" cy="4778439"/>
            <a:chOff x="0" y="0"/>
            <a:chExt cx="812800" cy="812800"/>
          </a:xfrm>
        </p:grpSpPr>
        <p:sp>
          <p:nvSpPr>
            <p:cNvPr id="53" name="Google Shape;5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FFFF">
                    <a:alpha val="25098"/>
                  </a:srgbClr>
                </a:gs>
                <a:gs pos="100000">
                  <a:srgbClr val="021410">
                    <a:alpha val="25098"/>
                  </a:srgbClr>
                </a:gs>
              </a:gsLst>
              <a:lin ang="0" scaled="0"/>
            </a:gradFill>
            <a:ln>
              <a:noFill/>
            </a:ln>
          </p:spPr>
          <p:txBody>
            <a:bodyPr spcFirstLastPara="1" wrap="square" lIns="205500" tIns="102700" rIns="205500" bIns="102700" anchor="t" anchorCtr="0">
              <a:noAutofit/>
            </a:bodyPr>
            <a:lstStyle/>
            <a:p>
              <a:pPr marL="0" marR="0" lvl="0" indent="0" algn="l" rtl="0">
                <a:spcBef>
                  <a:spcPts val="0"/>
                </a:spcBef>
                <a:spcAft>
                  <a:spcPts val="0"/>
                </a:spcAft>
                <a:buNone/>
              </a:pPr>
              <a:endParaRPr sz="4046">
                <a:solidFill>
                  <a:schemeClr val="dk1"/>
                </a:solidFill>
                <a:latin typeface="Calibri"/>
                <a:ea typeface="Calibri"/>
                <a:cs typeface="Calibri"/>
                <a:sym typeface="Calibri"/>
              </a:endParaRPr>
            </a:p>
          </p:txBody>
        </p:sp>
        <p:sp>
          <p:nvSpPr>
            <p:cNvPr id="54" name="Google Shape;54;p1"/>
            <p:cNvSpPr txBox="1"/>
            <p:nvPr/>
          </p:nvSpPr>
          <p:spPr>
            <a:xfrm>
              <a:off x="76200" y="76200"/>
              <a:ext cx="660400" cy="660400"/>
            </a:xfrm>
            <a:prstGeom prst="rect">
              <a:avLst/>
            </a:prstGeom>
            <a:noFill/>
            <a:ln>
              <a:noFill/>
            </a:ln>
          </p:spPr>
          <p:txBody>
            <a:bodyPr spcFirstLastPara="1" wrap="square" lIns="114200" tIns="114200" rIns="114200" bIns="114200" anchor="ctr" anchorCtr="0">
              <a:noAutofit/>
            </a:bodyPr>
            <a:lstStyle/>
            <a:p>
              <a:pPr marL="0" marR="0" lvl="0" indent="0" algn="ctr" rtl="0">
                <a:lnSpc>
                  <a:spcPct val="266611"/>
                </a:lnSpc>
                <a:spcBef>
                  <a:spcPts val="0"/>
                </a:spcBef>
                <a:spcAft>
                  <a:spcPts val="0"/>
                </a:spcAft>
                <a:buNone/>
              </a:pPr>
              <a:endParaRPr sz="4046">
                <a:solidFill>
                  <a:schemeClr val="dk1"/>
                </a:solidFill>
                <a:latin typeface="Calibri"/>
                <a:ea typeface="Calibri"/>
                <a:cs typeface="Calibri"/>
                <a:sym typeface="Calibri"/>
              </a:endParaRPr>
            </a:p>
          </p:txBody>
        </p:sp>
      </p:grpSp>
      <p:grpSp>
        <p:nvGrpSpPr>
          <p:cNvPr id="55" name="Google Shape;55;p1"/>
          <p:cNvGrpSpPr/>
          <p:nvPr/>
        </p:nvGrpSpPr>
        <p:grpSpPr>
          <a:xfrm>
            <a:off x="5248642" y="5241012"/>
            <a:ext cx="9698980" cy="9410924"/>
            <a:chOff x="0" y="0"/>
            <a:chExt cx="812800" cy="812800"/>
          </a:xfrm>
        </p:grpSpPr>
        <p:sp>
          <p:nvSpPr>
            <p:cNvPr id="56" name="Google Shape;56;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FFFF">
                    <a:alpha val="94901"/>
                  </a:srgbClr>
                </a:gs>
                <a:gs pos="100000">
                  <a:srgbClr val="021410">
                    <a:alpha val="94901"/>
                  </a:srgbClr>
                </a:gs>
              </a:gsLst>
              <a:lin ang="0" scaled="0"/>
            </a:gradFill>
            <a:ln>
              <a:noFill/>
            </a:ln>
          </p:spPr>
          <p:txBody>
            <a:bodyPr spcFirstLastPara="1" wrap="square" lIns="84600" tIns="42300" rIns="84600" bIns="42300" anchor="t" anchorCtr="0">
              <a:noAutofit/>
            </a:bodyPr>
            <a:lstStyle/>
            <a:p>
              <a:pPr marL="0" marR="0" lvl="0" indent="0" algn="l" rtl="0">
                <a:spcBef>
                  <a:spcPts val="0"/>
                </a:spcBef>
                <a:spcAft>
                  <a:spcPts val="0"/>
                </a:spcAft>
                <a:buNone/>
              </a:pPr>
              <a:endParaRPr sz="1666">
                <a:solidFill>
                  <a:schemeClr val="dk1"/>
                </a:solidFill>
                <a:latin typeface="Calibri"/>
                <a:ea typeface="Calibri"/>
                <a:cs typeface="Calibri"/>
                <a:sym typeface="Calibri"/>
              </a:endParaRPr>
            </a:p>
          </p:txBody>
        </p:sp>
        <p:sp>
          <p:nvSpPr>
            <p:cNvPr id="57" name="Google Shape;57;p1"/>
            <p:cNvSpPr txBox="1"/>
            <p:nvPr/>
          </p:nvSpPr>
          <p:spPr>
            <a:xfrm>
              <a:off x="76200" y="76200"/>
              <a:ext cx="660400" cy="660400"/>
            </a:xfrm>
            <a:prstGeom prst="rect">
              <a:avLst/>
            </a:prstGeom>
            <a:noFill/>
            <a:ln>
              <a:noFill/>
            </a:ln>
          </p:spPr>
          <p:txBody>
            <a:bodyPr spcFirstLastPara="1" wrap="square" lIns="47025" tIns="47025" rIns="47025" bIns="47025" anchor="ctr" anchorCtr="0">
              <a:noAutofit/>
            </a:bodyPr>
            <a:lstStyle/>
            <a:p>
              <a:pPr marL="0" marR="0" lvl="0" indent="0" algn="ctr" rtl="0">
                <a:lnSpc>
                  <a:spcPct val="266611"/>
                </a:lnSpc>
                <a:spcBef>
                  <a:spcPts val="0"/>
                </a:spcBef>
                <a:spcAft>
                  <a:spcPts val="0"/>
                </a:spcAft>
                <a:buNone/>
              </a:pPr>
              <a:endParaRPr sz="1666">
                <a:solidFill>
                  <a:schemeClr val="dk1"/>
                </a:solidFill>
                <a:latin typeface="Calibri"/>
                <a:ea typeface="Calibri"/>
                <a:cs typeface="Calibri"/>
                <a:sym typeface="Calibri"/>
              </a:endParaRPr>
            </a:p>
          </p:txBody>
        </p:sp>
      </p:grpSp>
      <p:grpSp>
        <p:nvGrpSpPr>
          <p:cNvPr id="58" name="Google Shape;58;p1"/>
          <p:cNvGrpSpPr/>
          <p:nvPr/>
        </p:nvGrpSpPr>
        <p:grpSpPr>
          <a:xfrm rot="1601814">
            <a:off x="14035895" y="9665065"/>
            <a:ext cx="5260117" cy="5270981"/>
            <a:chOff x="0" y="0"/>
            <a:chExt cx="812800" cy="812800"/>
          </a:xfrm>
        </p:grpSpPr>
        <p:sp>
          <p:nvSpPr>
            <p:cNvPr id="59" name="Google Shape;59;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FFFF">
                    <a:alpha val="25098"/>
                  </a:srgbClr>
                </a:gs>
                <a:gs pos="100000">
                  <a:srgbClr val="021410">
                    <a:alpha val="25098"/>
                  </a:srgbClr>
                </a:gs>
              </a:gsLst>
              <a:lin ang="0" scaled="0"/>
            </a:gradFill>
            <a:ln>
              <a:noFill/>
            </a:ln>
          </p:spPr>
          <p:txBody>
            <a:bodyPr spcFirstLastPara="1" wrap="square" lIns="137400" tIns="68675" rIns="137400" bIns="68675" anchor="t" anchorCtr="0">
              <a:noAutofit/>
            </a:bodyPr>
            <a:lstStyle/>
            <a:p>
              <a:pPr marL="0" marR="0" lvl="0" indent="0" algn="l" rtl="0">
                <a:spcBef>
                  <a:spcPts val="0"/>
                </a:spcBef>
                <a:spcAft>
                  <a:spcPts val="0"/>
                </a:spcAft>
                <a:buNone/>
              </a:pPr>
              <a:endParaRPr sz="2705">
                <a:solidFill>
                  <a:schemeClr val="dk1"/>
                </a:solidFill>
                <a:latin typeface="Calibri"/>
                <a:ea typeface="Calibri"/>
                <a:cs typeface="Calibri"/>
                <a:sym typeface="Calibri"/>
              </a:endParaRPr>
            </a:p>
          </p:txBody>
        </p:sp>
        <p:sp>
          <p:nvSpPr>
            <p:cNvPr id="60" name="Google Shape;60;p1"/>
            <p:cNvSpPr txBox="1"/>
            <p:nvPr/>
          </p:nvSpPr>
          <p:spPr>
            <a:xfrm>
              <a:off x="76200" y="76200"/>
              <a:ext cx="660400" cy="660400"/>
            </a:xfrm>
            <a:prstGeom prst="rect">
              <a:avLst/>
            </a:prstGeom>
            <a:noFill/>
            <a:ln>
              <a:noFill/>
            </a:ln>
          </p:spPr>
          <p:txBody>
            <a:bodyPr spcFirstLastPara="1" wrap="square" lIns="76350" tIns="76350" rIns="76350" bIns="76350" anchor="ctr" anchorCtr="0">
              <a:noAutofit/>
            </a:bodyPr>
            <a:lstStyle/>
            <a:p>
              <a:pPr marL="0" marR="0" lvl="0" indent="0" algn="ctr" rtl="0">
                <a:lnSpc>
                  <a:spcPct val="266611"/>
                </a:lnSpc>
                <a:spcBef>
                  <a:spcPts val="0"/>
                </a:spcBef>
                <a:spcAft>
                  <a:spcPts val="0"/>
                </a:spcAft>
                <a:buNone/>
              </a:pPr>
              <a:endParaRPr sz="2705">
                <a:solidFill>
                  <a:schemeClr val="dk1"/>
                </a:solidFill>
                <a:latin typeface="Calibri"/>
                <a:ea typeface="Calibri"/>
                <a:cs typeface="Calibri"/>
                <a:sym typeface="Calibri"/>
              </a:endParaRPr>
            </a:p>
          </p:txBody>
        </p:sp>
      </p:grpSp>
      <p:grpSp>
        <p:nvGrpSpPr>
          <p:cNvPr id="61" name="Google Shape;61;p1"/>
          <p:cNvGrpSpPr/>
          <p:nvPr/>
        </p:nvGrpSpPr>
        <p:grpSpPr>
          <a:xfrm>
            <a:off x="-46338" y="15647202"/>
            <a:ext cx="10390793" cy="11980340"/>
            <a:chOff x="-255961" y="-4034"/>
            <a:chExt cx="1316504" cy="1517898"/>
          </a:xfrm>
        </p:grpSpPr>
        <p:sp>
          <p:nvSpPr>
            <p:cNvPr id="62" name="Google Shape;62;p1"/>
            <p:cNvSpPr/>
            <p:nvPr/>
          </p:nvSpPr>
          <p:spPr>
            <a:xfrm>
              <a:off x="-255961" y="-4034"/>
              <a:ext cx="1060543" cy="1513864"/>
            </a:xfrm>
            <a:custGeom>
              <a:avLst/>
              <a:gdLst/>
              <a:ahLst/>
              <a:cxnLst/>
              <a:rect l="l" t="t" r="r" b="b"/>
              <a:pathLst>
                <a:path w="1060543" h="1513864" extrusionOk="0">
                  <a:moveTo>
                    <a:pt x="0" y="0"/>
                  </a:moveTo>
                  <a:lnTo>
                    <a:pt x="1060543" y="0"/>
                  </a:lnTo>
                  <a:lnTo>
                    <a:pt x="1060543" y="1513864"/>
                  </a:lnTo>
                  <a:lnTo>
                    <a:pt x="0" y="1513864"/>
                  </a:lnTo>
                  <a:close/>
                </a:path>
              </a:pathLst>
            </a:custGeom>
            <a:solidFill>
              <a:srgbClr val="F7F7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 name="Google Shape;63;p1"/>
            <p:cNvSpPr txBox="1"/>
            <p:nvPr/>
          </p:nvSpPr>
          <p:spPr>
            <a:xfrm>
              <a:off x="0" y="0"/>
              <a:ext cx="1060543" cy="1513864"/>
            </a:xfrm>
            <a:prstGeom prst="rect">
              <a:avLst/>
            </a:prstGeom>
            <a:noFill/>
            <a:ln>
              <a:noFill/>
            </a:ln>
          </p:spPr>
          <p:txBody>
            <a:bodyPr spcFirstLastPara="1" wrap="square" lIns="50800" tIns="50800" rIns="50800" bIns="50800" anchor="ctr" anchorCtr="0">
              <a:noAutofit/>
            </a:bodyPr>
            <a:lstStyle/>
            <a:p>
              <a:pPr marL="0" marR="0" lvl="0" indent="0" algn="ctr" rtl="0">
                <a:lnSpc>
                  <a:spcPct val="2666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64" name="Google Shape;64;p1"/>
          <p:cNvGrpSpPr/>
          <p:nvPr/>
        </p:nvGrpSpPr>
        <p:grpSpPr>
          <a:xfrm>
            <a:off x="8229600" y="15647202"/>
            <a:ext cx="13328055" cy="11948474"/>
            <a:chOff x="0" y="0"/>
            <a:chExt cx="1688656" cy="1513864"/>
          </a:xfrm>
        </p:grpSpPr>
        <p:sp>
          <p:nvSpPr>
            <p:cNvPr id="65" name="Google Shape;65;p1"/>
            <p:cNvSpPr/>
            <p:nvPr/>
          </p:nvSpPr>
          <p:spPr>
            <a:xfrm>
              <a:off x="0" y="0"/>
              <a:ext cx="1688656" cy="1513864"/>
            </a:xfrm>
            <a:custGeom>
              <a:avLst/>
              <a:gdLst/>
              <a:ahLst/>
              <a:cxnLst/>
              <a:rect l="l" t="t" r="r" b="b"/>
              <a:pathLst>
                <a:path w="1688656" h="1513864" extrusionOk="0">
                  <a:moveTo>
                    <a:pt x="0" y="0"/>
                  </a:moveTo>
                  <a:lnTo>
                    <a:pt x="1688656" y="0"/>
                  </a:lnTo>
                  <a:lnTo>
                    <a:pt x="1688656" y="1513864"/>
                  </a:lnTo>
                  <a:lnTo>
                    <a:pt x="0" y="1513864"/>
                  </a:lnTo>
                  <a:close/>
                </a:path>
              </a:pathLst>
            </a:custGeom>
            <a:solidFill>
              <a:srgbClr val="EDEC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 name="Google Shape;66;p1"/>
            <p:cNvSpPr txBox="1"/>
            <p:nvPr/>
          </p:nvSpPr>
          <p:spPr>
            <a:xfrm>
              <a:off x="0" y="0"/>
              <a:ext cx="1688656" cy="1513864"/>
            </a:xfrm>
            <a:prstGeom prst="rect">
              <a:avLst/>
            </a:prstGeom>
            <a:noFill/>
            <a:ln>
              <a:noFill/>
            </a:ln>
          </p:spPr>
          <p:txBody>
            <a:bodyPr spcFirstLastPara="1" wrap="square" lIns="50800" tIns="50800" rIns="50800" bIns="50800" anchor="ctr" anchorCtr="0">
              <a:noAutofit/>
            </a:bodyPr>
            <a:lstStyle/>
            <a:p>
              <a:pPr marL="0" marR="0" lvl="0" indent="0" algn="ctr" rtl="0">
                <a:lnSpc>
                  <a:spcPct val="266611"/>
                </a:lnSpc>
                <a:spcBef>
                  <a:spcPts val="0"/>
                </a:spcBef>
                <a:spcAft>
                  <a:spcPts val="0"/>
                </a:spcAft>
                <a:buNone/>
              </a:pPr>
              <a:endParaRPr sz="1800">
                <a:solidFill>
                  <a:schemeClr val="dk1"/>
                </a:solidFill>
                <a:latin typeface="Calibri"/>
                <a:ea typeface="Calibri"/>
                <a:cs typeface="Calibri"/>
                <a:sym typeface="Calibri"/>
              </a:endParaRPr>
            </a:p>
          </p:txBody>
        </p:sp>
      </p:grpSp>
      <p:sp>
        <p:nvSpPr>
          <p:cNvPr id="67" name="Google Shape;67;p1"/>
          <p:cNvSpPr/>
          <p:nvPr/>
        </p:nvSpPr>
        <p:spPr>
          <a:xfrm>
            <a:off x="456465" y="16163281"/>
            <a:ext cx="462465" cy="485589"/>
          </a:xfrm>
          <a:custGeom>
            <a:avLst/>
            <a:gdLst/>
            <a:ahLst/>
            <a:cxnLst/>
            <a:rect l="l" t="t" r="r" b="b"/>
            <a:pathLst>
              <a:path w="462465" h="485589" extrusionOk="0">
                <a:moveTo>
                  <a:pt x="0" y="0"/>
                </a:moveTo>
                <a:lnTo>
                  <a:pt x="462465" y="0"/>
                </a:lnTo>
                <a:lnTo>
                  <a:pt x="462465" y="485589"/>
                </a:lnTo>
                <a:lnTo>
                  <a:pt x="0" y="485589"/>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1"/>
          <p:cNvSpPr/>
          <p:nvPr/>
        </p:nvSpPr>
        <p:spPr>
          <a:xfrm>
            <a:off x="451808" y="17844707"/>
            <a:ext cx="462465" cy="485589"/>
          </a:xfrm>
          <a:custGeom>
            <a:avLst/>
            <a:gdLst/>
            <a:ahLst/>
            <a:cxnLst/>
            <a:rect l="l" t="t" r="r" b="b"/>
            <a:pathLst>
              <a:path w="462465" h="485589" extrusionOk="0">
                <a:moveTo>
                  <a:pt x="0" y="0"/>
                </a:moveTo>
                <a:lnTo>
                  <a:pt x="462465" y="0"/>
                </a:lnTo>
                <a:lnTo>
                  <a:pt x="462465" y="485589"/>
                </a:lnTo>
                <a:lnTo>
                  <a:pt x="0" y="485589"/>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 name="Google Shape;69;p1"/>
          <p:cNvSpPr/>
          <p:nvPr/>
        </p:nvSpPr>
        <p:spPr>
          <a:xfrm>
            <a:off x="389485" y="20106973"/>
            <a:ext cx="462465" cy="485589"/>
          </a:xfrm>
          <a:custGeom>
            <a:avLst/>
            <a:gdLst/>
            <a:ahLst/>
            <a:cxnLst/>
            <a:rect l="l" t="t" r="r" b="b"/>
            <a:pathLst>
              <a:path w="462465" h="485589" extrusionOk="0">
                <a:moveTo>
                  <a:pt x="0" y="0"/>
                </a:moveTo>
                <a:lnTo>
                  <a:pt x="462465" y="0"/>
                </a:lnTo>
                <a:lnTo>
                  <a:pt x="462465" y="485589"/>
                </a:lnTo>
                <a:lnTo>
                  <a:pt x="0" y="485589"/>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 name="Google Shape;70;p1"/>
          <p:cNvSpPr/>
          <p:nvPr/>
        </p:nvSpPr>
        <p:spPr>
          <a:xfrm>
            <a:off x="338678" y="22269180"/>
            <a:ext cx="462465" cy="485589"/>
          </a:xfrm>
          <a:custGeom>
            <a:avLst/>
            <a:gdLst/>
            <a:ahLst/>
            <a:cxnLst/>
            <a:rect l="l" t="t" r="r" b="b"/>
            <a:pathLst>
              <a:path w="462465" h="485589" extrusionOk="0">
                <a:moveTo>
                  <a:pt x="0" y="0"/>
                </a:moveTo>
                <a:lnTo>
                  <a:pt x="462465" y="0"/>
                </a:lnTo>
                <a:lnTo>
                  <a:pt x="462465" y="485588"/>
                </a:lnTo>
                <a:lnTo>
                  <a:pt x="0" y="485588"/>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 name="Google Shape;71;p1"/>
          <p:cNvSpPr/>
          <p:nvPr/>
        </p:nvSpPr>
        <p:spPr>
          <a:xfrm>
            <a:off x="278825" y="23807870"/>
            <a:ext cx="462465" cy="485589"/>
          </a:xfrm>
          <a:custGeom>
            <a:avLst/>
            <a:gdLst/>
            <a:ahLst/>
            <a:cxnLst/>
            <a:rect l="l" t="t" r="r" b="b"/>
            <a:pathLst>
              <a:path w="462465" h="485589" extrusionOk="0">
                <a:moveTo>
                  <a:pt x="0" y="0"/>
                </a:moveTo>
                <a:lnTo>
                  <a:pt x="462465" y="0"/>
                </a:lnTo>
                <a:lnTo>
                  <a:pt x="462465" y="485588"/>
                </a:lnTo>
                <a:lnTo>
                  <a:pt x="0" y="485588"/>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72" name="Google Shape;72;p1"/>
          <p:cNvGrpSpPr/>
          <p:nvPr/>
        </p:nvGrpSpPr>
        <p:grpSpPr>
          <a:xfrm>
            <a:off x="8809318" y="16361701"/>
            <a:ext cx="7790847" cy="995055"/>
            <a:chOff x="-284925" y="-778226"/>
            <a:chExt cx="10387796" cy="1326740"/>
          </a:xfrm>
        </p:grpSpPr>
        <p:sp>
          <p:nvSpPr>
            <p:cNvPr id="73" name="Google Shape;73;p1"/>
            <p:cNvSpPr/>
            <p:nvPr/>
          </p:nvSpPr>
          <p:spPr>
            <a:xfrm>
              <a:off x="-57129" y="-395334"/>
              <a:ext cx="10160000" cy="943848"/>
            </a:xfrm>
            <a:custGeom>
              <a:avLst/>
              <a:gdLst/>
              <a:ahLst/>
              <a:cxnLst/>
              <a:rect l="l" t="t" r="r" b="b"/>
              <a:pathLst>
                <a:path w="10160000" h="943848" extrusionOk="0">
                  <a:moveTo>
                    <a:pt x="0" y="0"/>
                  </a:moveTo>
                  <a:lnTo>
                    <a:pt x="10160000" y="0"/>
                  </a:lnTo>
                  <a:lnTo>
                    <a:pt x="10160000" y="943848"/>
                  </a:lnTo>
                  <a:lnTo>
                    <a:pt x="0" y="943848"/>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 name="Google Shape;74;p1"/>
            <p:cNvSpPr txBox="1"/>
            <p:nvPr/>
          </p:nvSpPr>
          <p:spPr>
            <a:xfrm>
              <a:off x="-284925" y="-778226"/>
              <a:ext cx="10160000" cy="1010522"/>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3000" b="1">
                  <a:solidFill>
                    <a:srgbClr val="051310"/>
                  </a:solidFill>
                  <a:latin typeface="Questrial"/>
                  <a:ea typeface="Questrial"/>
                  <a:cs typeface="Questrial"/>
                  <a:sym typeface="Questrial"/>
                </a:rPr>
                <a:t>Why Ireland?</a:t>
              </a:r>
              <a:endParaRPr/>
            </a:p>
          </p:txBody>
        </p:sp>
      </p:grpSp>
      <p:grpSp>
        <p:nvGrpSpPr>
          <p:cNvPr id="75" name="Google Shape;75;p1"/>
          <p:cNvGrpSpPr/>
          <p:nvPr/>
        </p:nvGrpSpPr>
        <p:grpSpPr>
          <a:xfrm>
            <a:off x="8809319" y="17012317"/>
            <a:ext cx="12748365" cy="3355864"/>
            <a:chOff x="-175648" y="-371716"/>
            <a:chExt cx="10478719" cy="1533615"/>
          </a:xfrm>
        </p:grpSpPr>
        <p:sp>
          <p:nvSpPr>
            <p:cNvPr id="76" name="Google Shape;76;p1"/>
            <p:cNvSpPr/>
            <p:nvPr/>
          </p:nvSpPr>
          <p:spPr>
            <a:xfrm>
              <a:off x="0" y="0"/>
              <a:ext cx="10160000" cy="943848"/>
            </a:xfrm>
            <a:custGeom>
              <a:avLst/>
              <a:gdLst/>
              <a:ahLst/>
              <a:cxnLst/>
              <a:rect l="l" t="t" r="r" b="b"/>
              <a:pathLst>
                <a:path w="10160000" h="943848" extrusionOk="0">
                  <a:moveTo>
                    <a:pt x="0" y="0"/>
                  </a:moveTo>
                  <a:lnTo>
                    <a:pt x="10160000" y="0"/>
                  </a:lnTo>
                  <a:lnTo>
                    <a:pt x="10160000" y="943848"/>
                  </a:lnTo>
                  <a:lnTo>
                    <a:pt x="0" y="943848"/>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77;p1"/>
            <p:cNvSpPr txBox="1"/>
            <p:nvPr/>
          </p:nvSpPr>
          <p:spPr>
            <a:xfrm>
              <a:off x="-175648" y="-371716"/>
              <a:ext cx="10478719" cy="153361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800">
                  <a:solidFill>
                    <a:schemeClr val="dk1"/>
                  </a:solidFill>
                  <a:latin typeface="Questrial"/>
                  <a:ea typeface="Questrial"/>
                  <a:cs typeface="Questrial"/>
                  <a:sym typeface="Questrial"/>
                </a:rPr>
                <a:t>EXL is a global data and AI company that delivers analytics and digital solutions to sectors like banking, insurance, healthcare, retail, utilities, and travel. It combines data, domain expertise, and AI-enabled transformation for enterprise clients. Ireland is a strategic base, with EXL’s International Business HQ and AI Innovation Lab in Dublin providing access to skilled talent, a connected business environment, and European and global markets. EXL also collaborates with Irish research institutions and uses Dublin as part of its innovation infrastructure to develop next‑generation AI solutions, co‑create with clients, and enhance its EXLerate AI platform.</a:t>
              </a:r>
              <a:endParaRPr>
                <a:latin typeface="Questrial"/>
                <a:ea typeface="Questrial"/>
                <a:cs typeface="Questrial"/>
                <a:sym typeface="Questrial"/>
              </a:endParaRPr>
            </a:p>
            <a:p>
              <a:pPr marL="0" marR="0" lvl="0" indent="0" algn="l" rtl="0">
                <a:spcBef>
                  <a:spcPts val="0"/>
                </a:spcBef>
                <a:spcAft>
                  <a:spcPts val="0"/>
                </a:spcAft>
                <a:buNone/>
              </a:pPr>
              <a:br>
                <a:rPr lang="en-US" sz="3200">
                  <a:solidFill>
                    <a:schemeClr val="dk1"/>
                  </a:solidFill>
                  <a:latin typeface="Calibri"/>
                  <a:ea typeface="Calibri"/>
                  <a:cs typeface="Calibri"/>
                  <a:sym typeface="Calibri"/>
                </a:rPr>
              </a:br>
              <a:endParaRPr sz="3200">
                <a:solidFill>
                  <a:srgbClr val="000000"/>
                </a:solidFill>
                <a:latin typeface="Questrial"/>
                <a:ea typeface="Questrial"/>
                <a:cs typeface="Questrial"/>
                <a:sym typeface="Questrial"/>
              </a:endParaRPr>
            </a:p>
          </p:txBody>
        </p:sp>
      </p:grpSp>
      <p:grpSp>
        <p:nvGrpSpPr>
          <p:cNvPr id="78" name="Google Shape;78;p1"/>
          <p:cNvGrpSpPr/>
          <p:nvPr/>
        </p:nvGrpSpPr>
        <p:grpSpPr>
          <a:xfrm>
            <a:off x="15581250" y="20935550"/>
            <a:ext cx="5720255" cy="3359486"/>
            <a:chOff x="-4765725" y="-1524816"/>
            <a:chExt cx="12199308" cy="1579671"/>
          </a:xfrm>
        </p:grpSpPr>
        <p:sp>
          <p:nvSpPr>
            <p:cNvPr id="79" name="Google Shape;79;p1"/>
            <p:cNvSpPr/>
            <p:nvPr/>
          </p:nvSpPr>
          <p:spPr>
            <a:xfrm>
              <a:off x="-4765725" y="-1113157"/>
              <a:ext cx="11572691" cy="1168012"/>
            </a:xfrm>
            <a:custGeom>
              <a:avLst/>
              <a:gdLst/>
              <a:ahLst/>
              <a:cxnLst/>
              <a:rect l="l" t="t" r="r" b="b"/>
              <a:pathLst>
                <a:path w="4246859" h="943848" extrusionOk="0">
                  <a:moveTo>
                    <a:pt x="0" y="0"/>
                  </a:moveTo>
                  <a:lnTo>
                    <a:pt x="4246859" y="0"/>
                  </a:lnTo>
                  <a:lnTo>
                    <a:pt x="4246859" y="943848"/>
                  </a:lnTo>
                  <a:lnTo>
                    <a:pt x="0" y="943848"/>
                  </a:lnTo>
                  <a:close/>
                </a:path>
              </a:pathLst>
            </a:custGeom>
            <a:solidFill>
              <a:srgbClr val="000000">
                <a:alpha val="0"/>
              </a:srgbClr>
            </a:solidFill>
            <a:ln>
              <a:noFill/>
            </a:ln>
          </p:spPr>
          <p:txBody>
            <a:bodyPr spcFirstLastPara="1" wrap="square" lIns="92700" tIns="46350" rIns="92700" bIns="46350" anchor="t" anchorCtr="0">
              <a:noAutofit/>
            </a:bodyPr>
            <a:lstStyle/>
            <a:p>
              <a:pPr marL="0" lvl="0" indent="0" algn="l" rtl="0">
                <a:lnSpc>
                  <a:spcPct val="115000"/>
                </a:lnSpc>
                <a:spcBef>
                  <a:spcPts val="1226"/>
                </a:spcBef>
                <a:spcAft>
                  <a:spcPts val="0"/>
                </a:spcAft>
                <a:buSzPts val="1123"/>
                <a:buNone/>
              </a:pPr>
              <a:r>
                <a:rPr lang="en-US" sz="2700">
                  <a:solidFill>
                    <a:schemeClr val="dk1"/>
                  </a:solidFill>
                  <a:latin typeface="Questrial"/>
                  <a:ea typeface="Questrial"/>
                  <a:cs typeface="Questrial"/>
                  <a:sym typeface="Questrial"/>
                </a:rPr>
                <a:t>For EXL, Ireland contributes to the AI supply chain by providing:</a:t>
              </a:r>
              <a:endParaRPr sz="2700">
                <a:solidFill>
                  <a:schemeClr val="dk1"/>
                </a:solidFill>
                <a:latin typeface="Questrial"/>
                <a:ea typeface="Questrial"/>
                <a:cs typeface="Questrial"/>
                <a:sym typeface="Questrial"/>
              </a:endParaRPr>
            </a:p>
            <a:p>
              <a:pPr marL="466918" lvl="0" indent="-404909" algn="l" rtl="0">
                <a:lnSpc>
                  <a:spcPct val="115000"/>
                </a:lnSpc>
                <a:spcBef>
                  <a:spcPts val="1226"/>
                </a:spcBef>
                <a:spcAft>
                  <a:spcPts val="0"/>
                </a:spcAft>
                <a:buClr>
                  <a:schemeClr val="dk1"/>
                </a:buClr>
                <a:buSzPts val="2700"/>
                <a:buFont typeface="Questrial"/>
                <a:buChar char="●"/>
              </a:pPr>
              <a:r>
                <a:rPr lang="en-US" sz="2700">
                  <a:solidFill>
                    <a:schemeClr val="dk1"/>
                  </a:solidFill>
                  <a:latin typeface="Questrial"/>
                  <a:ea typeface="Questrial"/>
                  <a:cs typeface="Questrial"/>
                  <a:sym typeface="Questrial"/>
                </a:rPr>
                <a:t>access to AI and data talent</a:t>
              </a:r>
              <a:endParaRPr sz="2700">
                <a:solidFill>
                  <a:schemeClr val="dk1"/>
                </a:solidFill>
                <a:latin typeface="Questrial"/>
                <a:ea typeface="Questrial"/>
                <a:cs typeface="Questrial"/>
                <a:sym typeface="Questrial"/>
              </a:endParaRPr>
            </a:p>
            <a:p>
              <a:pPr marL="466918" lvl="0" indent="-404909" algn="l" rtl="0">
                <a:lnSpc>
                  <a:spcPct val="115000"/>
                </a:lnSpc>
                <a:spcBef>
                  <a:spcPts val="0"/>
                </a:spcBef>
                <a:spcAft>
                  <a:spcPts val="0"/>
                </a:spcAft>
                <a:buClr>
                  <a:schemeClr val="dk1"/>
                </a:buClr>
                <a:buSzPts val="2700"/>
                <a:buFont typeface="Questrial"/>
                <a:buChar char="●"/>
              </a:pPr>
              <a:r>
                <a:rPr lang="en-US" sz="2700">
                  <a:solidFill>
                    <a:schemeClr val="dk1"/>
                  </a:solidFill>
                  <a:latin typeface="Questrial"/>
                  <a:ea typeface="Questrial"/>
                  <a:cs typeface="Questrial"/>
                  <a:sym typeface="Questrial"/>
                </a:rPr>
                <a:t>links with universities and research institutions</a:t>
              </a:r>
              <a:endParaRPr sz="2700">
                <a:solidFill>
                  <a:schemeClr val="dk1"/>
                </a:solidFill>
                <a:latin typeface="Questrial"/>
                <a:ea typeface="Questrial"/>
                <a:cs typeface="Questrial"/>
                <a:sym typeface="Questrial"/>
              </a:endParaRPr>
            </a:p>
            <a:p>
              <a:pPr marL="466918" lvl="0" indent="-404909" algn="l" rtl="0">
                <a:lnSpc>
                  <a:spcPct val="115000"/>
                </a:lnSpc>
                <a:spcBef>
                  <a:spcPts val="0"/>
                </a:spcBef>
                <a:spcAft>
                  <a:spcPts val="0"/>
                </a:spcAft>
                <a:buClr>
                  <a:schemeClr val="dk1"/>
                </a:buClr>
                <a:buSzPts val="2700"/>
                <a:buFont typeface="Questrial"/>
                <a:buChar char="●"/>
              </a:pPr>
              <a:r>
                <a:rPr lang="en-US" sz="2700">
                  <a:solidFill>
                    <a:schemeClr val="dk1"/>
                  </a:solidFill>
                  <a:latin typeface="Questrial"/>
                  <a:ea typeface="Questrial"/>
                  <a:cs typeface="Questrial"/>
                  <a:sym typeface="Questrial"/>
                </a:rPr>
                <a:t>a location for AI product and solution development</a:t>
              </a:r>
              <a:endParaRPr sz="2700">
                <a:solidFill>
                  <a:schemeClr val="dk1"/>
                </a:solidFill>
                <a:latin typeface="Questrial"/>
                <a:ea typeface="Questrial"/>
                <a:cs typeface="Questrial"/>
                <a:sym typeface="Questrial"/>
              </a:endParaRPr>
            </a:p>
            <a:p>
              <a:pPr marL="466918" lvl="0" indent="-404909" algn="l" rtl="0">
                <a:lnSpc>
                  <a:spcPct val="115000"/>
                </a:lnSpc>
                <a:spcBef>
                  <a:spcPts val="0"/>
                </a:spcBef>
                <a:spcAft>
                  <a:spcPts val="0"/>
                </a:spcAft>
                <a:buClr>
                  <a:schemeClr val="dk1"/>
                </a:buClr>
                <a:buSzPts val="2700"/>
                <a:buFont typeface="Questrial"/>
                <a:buChar char="●"/>
              </a:pPr>
              <a:r>
                <a:rPr lang="en-US" sz="2700">
                  <a:solidFill>
                    <a:schemeClr val="dk1"/>
                  </a:solidFill>
                  <a:latin typeface="Questrial"/>
                  <a:ea typeface="Questrial"/>
                  <a:cs typeface="Questrial"/>
                  <a:sym typeface="Questrial"/>
                </a:rPr>
                <a:t>a collaborative base for enterprise client innovation</a:t>
              </a:r>
              <a:endParaRPr sz="2700">
                <a:solidFill>
                  <a:schemeClr val="dk1"/>
                </a:solidFill>
                <a:latin typeface="Questrial"/>
                <a:ea typeface="Questrial"/>
                <a:cs typeface="Questrial"/>
                <a:sym typeface="Questrial"/>
              </a:endParaRPr>
            </a:p>
            <a:p>
              <a:pPr marL="466918" lvl="0" indent="-404909" algn="l" rtl="0">
                <a:lnSpc>
                  <a:spcPct val="115000"/>
                </a:lnSpc>
                <a:spcBef>
                  <a:spcPts val="0"/>
                </a:spcBef>
                <a:spcAft>
                  <a:spcPts val="0"/>
                </a:spcAft>
                <a:buClr>
                  <a:schemeClr val="dk1"/>
                </a:buClr>
                <a:buSzPts val="2700"/>
                <a:buFont typeface="Questrial"/>
                <a:buChar char="●"/>
              </a:pPr>
              <a:r>
                <a:rPr lang="en-US" sz="2700">
                  <a:solidFill>
                    <a:schemeClr val="dk1"/>
                  </a:solidFill>
                  <a:latin typeface="Questrial"/>
                  <a:ea typeface="Questrial"/>
                  <a:cs typeface="Questrial"/>
                  <a:sym typeface="Questrial"/>
                </a:rPr>
                <a:t>an international hub for scaling AI-led business operations </a:t>
              </a:r>
              <a:endParaRPr sz="2700">
                <a:solidFill>
                  <a:schemeClr val="dk1"/>
                </a:solidFill>
                <a:latin typeface="Questrial"/>
                <a:ea typeface="Questrial"/>
                <a:cs typeface="Questrial"/>
                <a:sym typeface="Questrial"/>
              </a:endParaRPr>
            </a:p>
            <a:p>
              <a:pPr marL="0" marR="0" lvl="0" indent="0" algn="l" rtl="0">
                <a:spcBef>
                  <a:spcPts val="1226"/>
                </a:spcBef>
                <a:spcAft>
                  <a:spcPts val="0"/>
                </a:spcAft>
                <a:buNone/>
              </a:pPr>
              <a:endParaRPr sz="2700">
                <a:solidFill>
                  <a:schemeClr val="dk1"/>
                </a:solidFill>
                <a:latin typeface="Questrial"/>
                <a:ea typeface="Questrial"/>
                <a:cs typeface="Questrial"/>
                <a:sym typeface="Questrial"/>
              </a:endParaRPr>
            </a:p>
          </p:txBody>
        </p:sp>
        <p:sp>
          <p:nvSpPr>
            <p:cNvPr id="80" name="Google Shape;80;p1"/>
            <p:cNvSpPr txBox="1"/>
            <p:nvPr/>
          </p:nvSpPr>
          <p:spPr>
            <a:xfrm>
              <a:off x="-4602417" y="-1524816"/>
              <a:ext cx="12036000" cy="228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17"/>
                </a:spcBef>
                <a:spcAft>
                  <a:spcPts val="0"/>
                </a:spcAft>
                <a:buClr>
                  <a:schemeClr val="dk1"/>
                </a:buClr>
                <a:buSzPts val="1115"/>
                <a:buFont typeface="Arial"/>
                <a:buNone/>
              </a:pPr>
              <a:r>
                <a:rPr lang="en-US" sz="3147" b="1">
                  <a:solidFill>
                    <a:schemeClr val="dk1"/>
                  </a:solidFill>
                  <a:latin typeface="Questrial"/>
                  <a:ea typeface="Questrial"/>
                  <a:cs typeface="Questrial"/>
                  <a:sym typeface="Questrial"/>
                </a:rPr>
                <a:t>Ireland and the AI Supply Chain</a:t>
              </a:r>
              <a:endParaRPr sz="3147" b="1">
                <a:solidFill>
                  <a:schemeClr val="dk1"/>
                </a:solidFill>
                <a:latin typeface="Questrial"/>
                <a:ea typeface="Questrial"/>
                <a:cs typeface="Questrial"/>
                <a:sym typeface="Questrial"/>
              </a:endParaRPr>
            </a:p>
            <a:p>
              <a:pPr marL="0" marR="0" lvl="0" indent="0" algn="l" rtl="0">
                <a:lnSpc>
                  <a:spcPct val="120000"/>
                </a:lnSpc>
                <a:spcBef>
                  <a:spcPts val="1217"/>
                </a:spcBef>
                <a:spcAft>
                  <a:spcPts val="0"/>
                </a:spcAft>
                <a:buNone/>
              </a:pPr>
              <a:endParaRPr sz="2638" b="1">
                <a:latin typeface="Questrial"/>
                <a:ea typeface="Questrial"/>
                <a:cs typeface="Questrial"/>
                <a:sym typeface="Questrial"/>
              </a:endParaRPr>
            </a:p>
          </p:txBody>
        </p:sp>
      </p:grpSp>
      <p:grpSp>
        <p:nvGrpSpPr>
          <p:cNvPr id="81" name="Google Shape;81;p1"/>
          <p:cNvGrpSpPr/>
          <p:nvPr/>
        </p:nvGrpSpPr>
        <p:grpSpPr>
          <a:xfrm>
            <a:off x="8787925" y="21020495"/>
            <a:ext cx="7833687" cy="883067"/>
            <a:chOff x="-284916" y="-103930"/>
            <a:chExt cx="10444916" cy="1047778"/>
          </a:xfrm>
        </p:grpSpPr>
        <p:sp>
          <p:nvSpPr>
            <p:cNvPr id="82" name="Google Shape;82;p1"/>
            <p:cNvSpPr/>
            <p:nvPr/>
          </p:nvSpPr>
          <p:spPr>
            <a:xfrm>
              <a:off x="0" y="0"/>
              <a:ext cx="10160000" cy="943848"/>
            </a:xfrm>
            <a:custGeom>
              <a:avLst/>
              <a:gdLst/>
              <a:ahLst/>
              <a:cxnLst/>
              <a:rect l="l" t="t" r="r" b="b"/>
              <a:pathLst>
                <a:path w="10160000" h="943848" extrusionOk="0">
                  <a:moveTo>
                    <a:pt x="0" y="0"/>
                  </a:moveTo>
                  <a:lnTo>
                    <a:pt x="10160000" y="0"/>
                  </a:lnTo>
                  <a:lnTo>
                    <a:pt x="10160000" y="943848"/>
                  </a:lnTo>
                  <a:lnTo>
                    <a:pt x="0" y="943848"/>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1"/>
            <p:cNvSpPr txBox="1"/>
            <p:nvPr/>
          </p:nvSpPr>
          <p:spPr>
            <a:xfrm>
              <a:off x="-284916" y="-103930"/>
              <a:ext cx="10160100" cy="6474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3000" b="1">
                  <a:solidFill>
                    <a:schemeClr val="dk1"/>
                  </a:solidFill>
                  <a:latin typeface="Questrial"/>
                  <a:ea typeface="Questrial"/>
                  <a:cs typeface="Questrial"/>
                  <a:sym typeface="Questrial"/>
                </a:rPr>
                <a:t>What EXL Does</a:t>
              </a:r>
              <a:endParaRPr sz="3000" b="1">
                <a:solidFill>
                  <a:schemeClr val="dk1"/>
                </a:solidFill>
                <a:latin typeface="Questrial"/>
                <a:ea typeface="Questrial"/>
                <a:cs typeface="Questrial"/>
                <a:sym typeface="Questrial"/>
              </a:endParaRPr>
            </a:p>
            <a:p>
              <a:pPr marL="0" marR="0" lvl="0" indent="0" algn="l" rtl="0">
                <a:lnSpc>
                  <a:spcPct val="120000"/>
                </a:lnSpc>
                <a:spcBef>
                  <a:spcPts val="1200"/>
                </a:spcBef>
                <a:spcAft>
                  <a:spcPts val="0"/>
                </a:spcAft>
                <a:buNone/>
              </a:pPr>
              <a:endParaRPr sz="2900"/>
            </a:p>
          </p:txBody>
        </p:sp>
      </p:grpSp>
      <p:grpSp>
        <p:nvGrpSpPr>
          <p:cNvPr id="84" name="Google Shape;84;p1"/>
          <p:cNvGrpSpPr/>
          <p:nvPr/>
        </p:nvGrpSpPr>
        <p:grpSpPr>
          <a:xfrm>
            <a:off x="8809325" y="21674330"/>
            <a:ext cx="6859352" cy="3840973"/>
            <a:chOff x="-473146" y="-2450976"/>
            <a:chExt cx="15189000" cy="5898300"/>
          </a:xfrm>
        </p:grpSpPr>
        <p:sp>
          <p:nvSpPr>
            <p:cNvPr id="85" name="Google Shape;85;p1"/>
            <p:cNvSpPr/>
            <p:nvPr/>
          </p:nvSpPr>
          <p:spPr>
            <a:xfrm>
              <a:off x="0" y="0"/>
              <a:ext cx="4032784" cy="943848"/>
            </a:xfrm>
            <a:custGeom>
              <a:avLst/>
              <a:gdLst/>
              <a:ahLst/>
              <a:cxnLst/>
              <a:rect l="l" t="t" r="r" b="b"/>
              <a:pathLst>
                <a:path w="4032784" h="943848" extrusionOk="0">
                  <a:moveTo>
                    <a:pt x="0" y="0"/>
                  </a:moveTo>
                  <a:lnTo>
                    <a:pt x="4032784" y="0"/>
                  </a:lnTo>
                  <a:lnTo>
                    <a:pt x="4032784" y="943848"/>
                  </a:lnTo>
                  <a:lnTo>
                    <a:pt x="0" y="943848"/>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p1"/>
            <p:cNvSpPr txBox="1"/>
            <p:nvPr/>
          </p:nvSpPr>
          <p:spPr>
            <a:xfrm>
              <a:off x="-473146" y="-2450976"/>
              <a:ext cx="15189000" cy="5898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SzPts val="1100"/>
                <a:buNone/>
              </a:pPr>
              <a:r>
                <a:rPr lang="en-US" sz="2700">
                  <a:solidFill>
                    <a:schemeClr val="dk1"/>
                  </a:solidFill>
                  <a:latin typeface="Questrial"/>
                  <a:ea typeface="Questrial"/>
                  <a:cs typeface="Questrial"/>
                  <a:sym typeface="Questrial"/>
                </a:rPr>
                <a:t>EXL helps organisations use </a:t>
              </a:r>
              <a:r>
                <a:rPr lang="en-US" sz="2700" b="1">
                  <a:solidFill>
                    <a:schemeClr val="dk1"/>
                  </a:solidFill>
                  <a:latin typeface="Questrial"/>
                  <a:ea typeface="Questrial"/>
                  <a:cs typeface="Questrial"/>
                  <a:sym typeface="Questrial"/>
                </a:rPr>
                <a:t>data, analytics, AI, and digital operations</a:t>
              </a:r>
              <a:r>
                <a:rPr lang="en-US" sz="2700">
                  <a:solidFill>
                    <a:schemeClr val="dk1"/>
                  </a:solidFill>
                  <a:latin typeface="Questrial"/>
                  <a:ea typeface="Questrial"/>
                  <a:cs typeface="Questrial"/>
                  <a:sym typeface="Questrial"/>
                </a:rPr>
                <a:t> to improve decisions, efficiency, and business outcomes. Its services span artificial intelligence, data and analytics, customer experience, risk and compliance, finance and accounting, and industry-specific digital transformation. </a:t>
              </a:r>
              <a:endParaRPr sz="2700">
                <a:solidFill>
                  <a:schemeClr val="dk1"/>
                </a:solidFill>
                <a:latin typeface="Questrial"/>
                <a:ea typeface="Questrial"/>
                <a:cs typeface="Questrial"/>
                <a:sym typeface="Questrial"/>
              </a:endParaRPr>
            </a:p>
            <a:p>
              <a:pPr marL="0" marR="0" lvl="0" indent="0" algn="l" rtl="0">
                <a:lnSpc>
                  <a:spcPct val="120000"/>
                </a:lnSpc>
                <a:spcBef>
                  <a:spcPts val="1200"/>
                </a:spcBef>
                <a:spcAft>
                  <a:spcPts val="0"/>
                </a:spcAft>
                <a:buNone/>
              </a:pPr>
              <a:endParaRPr sz="2700">
                <a:latin typeface="Questrial"/>
                <a:ea typeface="Questrial"/>
                <a:cs typeface="Questrial"/>
                <a:sym typeface="Questrial"/>
              </a:endParaRPr>
            </a:p>
          </p:txBody>
        </p:sp>
      </p:grpSp>
      <p:grpSp>
        <p:nvGrpSpPr>
          <p:cNvPr id="87" name="Google Shape;87;p1"/>
          <p:cNvGrpSpPr/>
          <p:nvPr/>
        </p:nvGrpSpPr>
        <p:grpSpPr>
          <a:xfrm>
            <a:off x="1184400" y="16162900"/>
            <a:ext cx="6531527" cy="1851215"/>
            <a:chOff x="-460592" y="-1551143"/>
            <a:chExt cx="8708700" cy="2468287"/>
          </a:xfrm>
        </p:grpSpPr>
        <p:sp>
          <p:nvSpPr>
            <p:cNvPr id="88" name="Google Shape;88;p1"/>
            <p:cNvSpPr/>
            <p:nvPr/>
          </p:nvSpPr>
          <p:spPr>
            <a:xfrm>
              <a:off x="0" y="0"/>
              <a:ext cx="4246859" cy="917144"/>
            </a:xfrm>
            <a:custGeom>
              <a:avLst/>
              <a:gdLst/>
              <a:ahLst/>
              <a:cxnLst/>
              <a:rect l="l" t="t" r="r" b="b"/>
              <a:pathLst>
                <a:path w="4246859" h="917144" extrusionOk="0">
                  <a:moveTo>
                    <a:pt x="0" y="0"/>
                  </a:moveTo>
                  <a:lnTo>
                    <a:pt x="4246859" y="0"/>
                  </a:lnTo>
                  <a:lnTo>
                    <a:pt x="4246859" y="917144"/>
                  </a:lnTo>
                  <a:lnTo>
                    <a:pt x="0" y="91714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 name="Google Shape;89;p1"/>
            <p:cNvSpPr txBox="1"/>
            <p:nvPr/>
          </p:nvSpPr>
          <p:spPr>
            <a:xfrm>
              <a:off x="-460592" y="-1551143"/>
              <a:ext cx="8708700" cy="175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800" b="1">
                  <a:solidFill>
                    <a:schemeClr val="dk1"/>
                  </a:solidFill>
                  <a:latin typeface="Questrial"/>
                  <a:ea typeface="Questrial"/>
                  <a:cs typeface="Questrial"/>
                  <a:sym typeface="Questrial"/>
                </a:rPr>
                <a:t>2023 - </a:t>
              </a:r>
              <a:r>
                <a:rPr lang="en-US" sz="2800">
                  <a:solidFill>
                    <a:schemeClr val="dk1"/>
                  </a:solidFill>
                  <a:latin typeface="Questrial"/>
                  <a:ea typeface="Questrial"/>
                  <a:cs typeface="Questrial"/>
                  <a:sym typeface="Questrial"/>
                </a:rPr>
                <a:t>EXL established a </a:t>
              </a:r>
              <a:r>
                <a:rPr lang="en-US" sz="2800" b="1">
                  <a:solidFill>
                    <a:schemeClr val="dk1"/>
                  </a:solidFill>
                  <a:latin typeface="Questrial"/>
                  <a:ea typeface="Questrial"/>
                  <a:cs typeface="Questrial"/>
                  <a:sym typeface="Questrial"/>
                </a:rPr>
                <a:t>Headquarters for International Business in Dublin</a:t>
              </a:r>
              <a:r>
                <a:rPr lang="en-US" sz="2800">
                  <a:solidFill>
                    <a:schemeClr val="dk1"/>
                  </a:solidFill>
                  <a:latin typeface="Questrial"/>
                  <a:ea typeface="Questrial"/>
                  <a:cs typeface="Questrial"/>
                  <a:sym typeface="Questrial"/>
                </a:rPr>
                <a:t>, marking its formal expansion into Ireland. </a:t>
              </a:r>
              <a:endParaRPr sz="2800" b="1">
                <a:solidFill>
                  <a:srgbClr val="000000"/>
                </a:solidFill>
                <a:latin typeface="Questrial"/>
                <a:ea typeface="Questrial"/>
                <a:cs typeface="Questrial"/>
                <a:sym typeface="Questrial"/>
              </a:endParaRPr>
            </a:p>
          </p:txBody>
        </p:sp>
      </p:grpSp>
      <p:grpSp>
        <p:nvGrpSpPr>
          <p:cNvPr id="90" name="Google Shape;90;p1"/>
          <p:cNvGrpSpPr/>
          <p:nvPr/>
        </p:nvGrpSpPr>
        <p:grpSpPr>
          <a:xfrm>
            <a:off x="1224600" y="17969200"/>
            <a:ext cx="6408451" cy="1469925"/>
            <a:chOff x="-631429" y="-617680"/>
            <a:chExt cx="8544600" cy="1959900"/>
          </a:xfrm>
        </p:grpSpPr>
        <p:sp>
          <p:nvSpPr>
            <p:cNvPr id="91" name="Google Shape;91;p1"/>
            <p:cNvSpPr/>
            <p:nvPr/>
          </p:nvSpPr>
          <p:spPr>
            <a:xfrm>
              <a:off x="0" y="0"/>
              <a:ext cx="4246859" cy="917144"/>
            </a:xfrm>
            <a:custGeom>
              <a:avLst/>
              <a:gdLst/>
              <a:ahLst/>
              <a:cxnLst/>
              <a:rect l="l" t="t" r="r" b="b"/>
              <a:pathLst>
                <a:path w="4246859" h="917144" extrusionOk="0">
                  <a:moveTo>
                    <a:pt x="0" y="0"/>
                  </a:moveTo>
                  <a:lnTo>
                    <a:pt x="4246859" y="0"/>
                  </a:lnTo>
                  <a:lnTo>
                    <a:pt x="4246859" y="917144"/>
                  </a:lnTo>
                  <a:lnTo>
                    <a:pt x="0" y="91714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 name="Google Shape;92;p1"/>
            <p:cNvSpPr txBox="1"/>
            <p:nvPr/>
          </p:nvSpPr>
          <p:spPr>
            <a:xfrm>
              <a:off x="-631429" y="-617680"/>
              <a:ext cx="8544600" cy="1959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a:solidFill>
                    <a:srgbClr val="000000"/>
                  </a:solidFill>
                  <a:latin typeface="Questrial"/>
                  <a:ea typeface="Questrial"/>
                  <a:cs typeface="Questrial"/>
                  <a:sym typeface="Questrial"/>
                </a:rPr>
                <a:t>2023 - </a:t>
              </a:r>
              <a:r>
                <a:rPr lang="en-US" sz="2800">
                  <a:solidFill>
                    <a:srgbClr val="000000"/>
                  </a:solidFill>
                  <a:latin typeface="Questrial"/>
                  <a:ea typeface="Questrial"/>
                  <a:cs typeface="Questrial"/>
                  <a:sym typeface="Questrial"/>
                </a:rPr>
                <a:t>The company announced plans to hire up to </a:t>
              </a:r>
              <a:r>
                <a:rPr lang="en-US" sz="2800" b="1">
                  <a:solidFill>
                    <a:srgbClr val="000000"/>
                  </a:solidFill>
                  <a:latin typeface="Questrial"/>
                  <a:ea typeface="Questrial"/>
                  <a:cs typeface="Questrial"/>
                  <a:sym typeface="Questrial"/>
                </a:rPr>
                <a:t>200 </a:t>
              </a:r>
              <a:r>
                <a:rPr lang="en-US" sz="2800">
                  <a:solidFill>
                    <a:srgbClr val="000000"/>
                  </a:solidFill>
                  <a:latin typeface="Questrial"/>
                  <a:ea typeface="Questrial"/>
                  <a:cs typeface="Questrial"/>
                  <a:sym typeface="Questrial"/>
                </a:rPr>
                <a:t>AI, data engineering, and other technology specialists in Dublin over </a:t>
              </a:r>
              <a:r>
                <a:rPr lang="en-US" sz="2800" b="1">
                  <a:solidFill>
                    <a:srgbClr val="000000"/>
                  </a:solidFill>
                  <a:latin typeface="Questrial"/>
                  <a:ea typeface="Questrial"/>
                  <a:cs typeface="Questrial"/>
                  <a:sym typeface="Questrial"/>
                </a:rPr>
                <a:t>three years</a:t>
              </a:r>
              <a:r>
                <a:rPr lang="en-US" sz="2800">
                  <a:solidFill>
                    <a:srgbClr val="000000"/>
                  </a:solidFill>
                  <a:latin typeface="Questrial"/>
                  <a:ea typeface="Questrial"/>
                  <a:cs typeface="Questrial"/>
                  <a:sym typeface="Questrial"/>
                </a:rPr>
                <a:t>. </a:t>
              </a:r>
              <a:endParaRPr sz="2800"/>
            </a:p>
            <a:p>
              <a:pPr marL="0" marR="0" lvl="0" indent="0" algn="l" rtl="0">
                <a:lnSpc>
                  <a:spcPct val="100000"/>
                </a:lnSpc>
                <a:spcBef>
                  <a:spcPts val="0"/>
                </a:spcBef>
                <a:spcAft>
                  <a:spcPts val="0"/>
                </a:spcAft>
                <a:buNone/>
              </a:pPr>
              <a:endParaRPr sz="3600" b="1">
                <a:solidFill>
                  <a:srgbClr val="000000"/>
                </a:solidFill>
                <a:latin typeface="Questrial"/>
                <a:ea typeface="Questrial"/>
                <a:cs typeface="Questrial"/>
                <a:sym typeface="Questrial"/>
              </a:endParaRPr>
            </a:p>
          </p:txBody>
        </p:sp>
      </p:grpSp>
      <p:grpSp>
        <p:nvGrpSpPr>
          <p:cNvPr id="93" name="Google Shape;93;p1"/>
          <p:cNvGrpSpPr/>
          <p:nvPr/>
        </p:nvGrpSpPr>
        <p:grpSpPr>
          <a:xfrm>
            <a:off x="1193158" y="19580282"/>
            <a:ext cx="6408441" cy="1888737"/>
            <a:chOff x="-543744" y="0"/>
            <a:chExt cx="8544588" cy="2518316"/>
          </a:xfrm>
        </p:grpSpPr>
        <p:sp>
          <p:nvSpPr>
            <p:cNvPr id="94" name="Google Shape;94;p1"/>
            <p:cNvSpPr/>
            <p:nvPr/>
          </p:nvSpPr>
          <p:spPr>
            <a:xfrm>
              <a:off x="0" y="0"/>
              <a:ext cx="4246859" cy="917144"/>
            </a:xfrm>
            <a:custGeom>
              <a:avLst/>
              <a:gdLst/>
              <a:ahLst/>
              <a:cxnLst/>
              <a:rect l="l" t="t" r="r" b="b"/>
              <a:pathLst>
                <a:path w="4246859" h="917144" extrusionOk="0">
                  <a:moveTo>
                    <a:pt x="0" y="0"/>
                  </a:moveTo>
                  <a:lnTo>
                    <a:pt x="4246859" y="0"/>
                  </a:lnTo>
                  <a:lnTo>
                    <a:pt x="4246859" y="917144"/>
                  </a:lnTo>
                  <a:lnTo>
                    <a:pt x="0" y="91714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1"/>
            <p:cNvSpPr txBox="1"/>
            <p:nvPr/>
          </p:nvSpPr>
          <p:spPr>
            <a:xfrm>
              <a:off x="-543744" y="413785"/>
              <a:ext cx="8544588" cy="210453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a:solidFill>
                    <a:schemeClr val="dk1"/>
                  </a:solidFill>
                  <a:latin typeface="Questrial"/>
                  <a:ea typeface="Questrial"/>
                  <a:cs typeface="Questrial"/>
                  <a:sym typeface="Questrial"/>
                </a:rPr>
                <a:t>2023 -</a:t>
              </a:r>
              <a:r>
                <a:rPr lang="en-US" sz="2800">
                  <a:solidFill>
                    <a:schemeClr val="dk1"/>
                  </a:solidFill>
                  <a:latin typeface="Questrial"/>
                  <a:ea typeface="Questrial"/>
                  <a:cs typeface="Questrial"/>
                  <a:sym typeface="Questrial"/>
                </a:rPr>
                <a:t> Ireland was positioned not just as a sales office, but as a strategic base for international business and technology growth</a:t>
              </a:r>
              <a:r>
                <a:rPr lang="en-US" sz="1800">
                  <a:solidFill>
                    <a:schemeClr val="dk1"/>
                  </a:solidFill>
                  <a:latin typeface="Questrial"/>
                  <a:ea typeface="Questrial"/>
                  <a:cs typeface="Questrial"/>
                  <a:sym typeface="Questrial"/>
                </a:rPr>
                <a:t>. </a:t>
              </a:r>
              <a:endParaRPr>
                <a:latin typeface="Questrial"/>
                <a:ea typeface="Questrial"/>
                <a:cs typeface="Questrial"/>
                <a:sym typeface="Questrial"/>
              </a:endParaRPr>
            </a:p>
            <a:p>
              <a:pPr marL="0" marR="0" lvl="0" indent="0" algn="l" rtl="0">
                <a:lnSpc>
                  <a:spcPct val="100000"/>
                </a:lnSpc>
                <a:spcBef>
                  <a:spcPts val="0"/>
                </a:spcBef>
                <a:spcAft>
                  <a:spcPts val="0"/>
                </a:spcAft>
                <a:buNone/>
              </a:pPr>
              <a:endParaRPr sz="3600">
                <a:solidFill>
                  <a:srgbClr val="000000"/>
                </a:solidFill>
                <a:latin typeface="Questrial"/>
                <a:ea typeface="Questrial"/>
                <a:cs typeface="Questrial"/>
                <a:sym typeface="Questrial"/>
              </a:endParaRPr>
            </a:p>
          </p:txBody>
        </p:sp>
      </p:grpSp>
      <p:grpSp>
        <p:nvGrpSpPr>
          <p:cNvPr id="96" name="Google Shape;96;p1"/>
          <p:cNvGrpSpPr/>
          <p:nvPr/>
        </p:nvGrpSpPr>
        <p:grpSpPr>
          <a:xfrm>
            <a:off x="1117525" y="21811028"/>
            <a:ext cx="6622426" cy="1469925"/>
            <a:chOff x="-135997" y="-532674"/>
            <a:chExt cx="8829900" cy="1959900"/>
          </a:xfrm>
        </p:grpSpPr>
        <p:sp>
          <p:nvSpPr>
            <p:cNvPr id="97" name="Google Shape;97;p1"/>
            <p:cNvSpPr/>
            <p:nvPr/>
          </p:nvSpPr>
          <p:spPr>
            <a:xfrm>
              <a:off x="0" y="0"/>
              <a:ext cx="4246859" cy="917144"/>
            </a:xfrm>
            <a:custGeom>
              <a:avLst/>
              <a:gdLst/>
              <a:ahLst/>
              <a:cxnLst/>
              <a:rect l="l" t="t" r="r" b="b"/>
              <a:pathLst>
                <a:path w="4246859" h="917144" extrusionOk="0">
                  <a:moveTo>
                    <a:pt x="0" y="0"/>
                  </a:moveTo>
                  <a:lnTo>
                    <a:pt x="4246859" y="0"/>
                  </a:lnTo>
                  <a:lnTo>
                    <a:pt x="4246859" y="917144"/>
                  </a:lnTo>
                  <a:lnTo>
                    <a:pt x="0" y="91714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 name="Google Shape;98;p1"/>
            <p:cNvSpPr txBox="1"/>
            <p:nvPr/>
          </p:nvSpPr>
          <p:spPr>
            <a:xfrm>
              <a:off x="-135997" y="-532674"/>
              <a:ext cx="8829900" cy="1959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a:solidFill>
                    <a:srgbClr val="000000"/>
                  </a:solidFill>
                  <a:latin typeface="Questrial"/>
                  <a:ea typeface="Questrial"/>
                  <a:cs typeface="Questrial"/>
                  <a:sym typeface="Questrial"/>
                </a:rPr>
                <a:t>2025 - </a:t>
              </a:r>
              <a:r>
                <a:rPr lang="en-US" sz="2800">
                  <a:solidFill>
                    <a:srgbClr val="000000"/>
                  </a:solidFill>
                  <a:latin typeface="Questrial"/>
                  <a:ea typeface="Questrial"/>
                  <a:cs typeface="Questrial"/>
                  <a:sym typeface="Questrial"/>
                </a:rPr>
                <a:t>EXL opened its new Headquarters for </a:t>
              </a:r>
              <a:r>
                <a:rPr lang="en-US" sz="2800" b="1">
                  <a:solidFill>
                    <a:srgbClr val="000000"/>
                  </a:solidFill>
                  <a:latin typeface="Questrial"/>
                  <a:ea typeface="Questrial"/>
                  <a:cs typeface="Questrial"/>
                  <a:sym typeface="Questrial"/>
                </a:rPr>
                <a:t>International Business in Dublin Docklands </a:t>
              </a:r>
              <a:endParaRPr b="1"/>
            </a:p>
          </p:txBody>
        </p:sp>
      </p:grpSp>
      <p:grpSp>
        <p:nvGrpSpPr>
          <p:cNvPr id="99" name="Google Shape;99;p1"/>
          <p:cNvGrpSpPr/>
          <p:nvPr/>
        </p:nvGrpSpPr>
        <p:grpSpPr>
          <a:xfrm>
            <a:off x="1076484" y="23557262"/>
            <a:ext cx="6525116" cy="1958196"/>
            <a:chOff x="-475898" y="-1200075"/>
            <a:chExt cx="8700154" cy="2610928"/>
          </a:xfrm>
        </p:grpSpPr>
        <p:sp>
          <p:nvSpPr>
            <p:cNvPr id="100" name="Google Shape;100;p1"/>
            <p:cNvSpPr/>
            <p:nvPr/>
          </p:nvSpPr>
          <p:spPr>
            <a:xfrm>
              <a:off x="0" y="0"/>
              <a:ext cx="4246859" cy="917144"/>
            </a:xfrm>
            <a:custGeom>
              <a:avLst/>
              <a:gdLst/>
              <a:ahLst/>
              <a:cxnLst/>
              <a:rect l="l" t="t" r="r" b="b"/>
              <a:pathLst>
                <a:path w="4246859" h="917144" extrusionOk="0">
                  <a:moveTo>
                    <a:pt x="0" y="0"/>
                  </a:moveTo>
                  <a:lnTo>
                    <a:pt x="4246859" y="0"/>
                  </a:lnTo>
                  <a:lnTo>
                    <a:pt x="4246859" y="917144"/>
                  </a:lnTo>
                  <a:lnTo>
                    <a:pt x="0" y="91714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1"/>
            <p:cNvSpPr txBox="1"/>
            <p:nvPr/>
          </p:nvSpPr>
          <p:spPr>
            <a:xfrm>
              <a:off x="-475898" y="-1200075"/>
              <a:ext cx="8700154" cy="261092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a:solidFill>
                    <a:schemeClr val="dk1"/>
                  </a:solidFill>
                  <a:latin typeface="Questrial"/>
                  <a:ea typeface="Questrial"/>
                  <a:cs typeface="Questrial"/>
                  <a:sym typeface="Questrial"/>
                </a:rPr>
                <a:t>2025</a:t>
              </a:r>
              <a:r>
                <a:rPr lang="en-US" sz="2800">
                  <a:solidFill>
                    <a:schemeClr val="dk1"/>
                  </a:solidFill>
                  <a:latin typeface="Questrial"/>
                  <a:ea typeface="Questrial"/>
                  <a:cs typeface="Questrial"/>
                  <a:sym typeface="Questrial"/>
                </a:rPr>
                <a:t> - EXL launched its </a:t>
              </a:r>
              <a:r>
                <a:rPr lang="en-US" sz="2800" b="1">
                  <a:solidFill>
                    <a:schemeClr val="dk1"/>
                  </a:solidFill>
                  <a:latin typeface="Questrial"/>
                  <a:ea typeface="Questrial"/>
                  <a:cs typeface="Questrial"/>
                  <a:sym typeface="Questrial"/>
                </a:rPr>
                <a:t>AI Innovation Lab</a:t>
              </a:r>
              <a:r>
                <a:rPr lang="en-US" sz="2800">
                  <a:solidFill>
                    <a:schemeClr val="dk1"/>
                  </a:solidFill>
                  <a:latin typeface="Questrial"/>
                  <a:ea typeface="Questrial"/>
                  <a:cs typeface="Questrial"/>
                  <a:sym typeface="Questrial"/>
                </a:rPr>
                <a:t>, a dedicated center for the research and development of industry-specific AI solutions. </a:t>
              </a:r>
              <a:endParaRPr sz="2800">
                <a:latin typeface="Questrial"/>
                <a:ea typeface="Questrial"/>
                <a:cs typeface="Questrial"/>
                <a:sym typeface="Questrial"/>
              </a:endParaRPr>
            </a:p>
            <a:p>
              <a:pPr marL="0" marR="0" lvl="0" indent="0" algn="l" rtl="0">
                <a:lnSpc>
                  <a:spcPct val="100000"/>
                </a:lnSpc>
                <a:spcBef>
                  <a:spcPts val="0"/>
                </a:spcBef>
                <a:spcAft>
                  <a:spcPts val="0"/>
                </a:spcAft>
                <a:buNone/>
              </a:pPr>
              <a:endParaRPr sz="2800" b="1">
                <a:solidFill>
                  <a:srgbClr val="000000"/>
                </a:solidFill>
                <a:latin typeface="Questrial"/>
                <a:ea typeface="Questrial"/>
                <a:cs typeface="Questrial"/>
                <a:sym typeface="Questrial"/>
              </a:endParaRPr>
            </a:p>
          </p:txBody>
        </p:sp>
      </p:grpSp>
      <p:sp>
        <p:nvSpPr>
          <p:cNvPr id="102" name="Google Shape;102;p1"/>
          <p:cNvSpPr txBox="1"/>
          <p:nvPr/>
        </p:nvSpPr>
        <p:spPr>
          <a:xfrm>
            <a:off x="1117520" y="25557913"/>
            <a:ext cx="6598310" cy="96910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endParaRPr sz="3600" b="1">
              <a:solidFill>
                <a:srgbClr val="000000"/>
              </a:solidFill>
              <a:latin typeface="Questrial"/>
              <a:ea typeface="Questrial"/>
              <a:cs typeface="Questrial"/>
              <a:sym typeface="Questrial"/>
            </a:endParaRPr>
          </a:p>
        </p:txBody>
      </p:sp>
      <p:pic>
        <p:nvPicPr>
          <p:cNvPr id="103" name="Google Shape;103;p1" title="background-removed-background-removed.png"/>
          <p:cNvPicPr preferRelativeResize="0"/>
          <p:nvPr/>
        </p:nvPicPr>
        <p:blipFill rotWithShape="1">
          <a:blip r:embed="rId3">
            <a:alphaModFix/>
          </a:blip>
          <a:srcRect t="15644" b="15651"/>
          <a:stretch/>
        </p:blipFill>
        <p:spPr>
          <a:xfrm>
            <a:off x="7307188" y="8924113"/>
            <a:ext cx="5520727" cy="2044713"/>
          </a:xfrm>
          <a:prstGeom prst="rect">
            <a:avLst/>
          </a:prstGeom>
          <a:noFill/>
          <a:ln>
            <a:noFill/>
          </a:ln>
        </p:spPr>
      </p:pic>
      <p:sp>
        <p:nvSpPr>
          <p:cNvPr id="104" name="Google Shape;104;p1"/>
          <p:cNvSpPr txBox="1"/>
          <p:nvPr/>
        </p:nvSpPr>
        <p:spPr>
          <a:xfrm>
            <a:off x="999125" y="25630300"/>
            <a:ext cx="6525000" cy="224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Questrial"/>
                <a:ea typeface="Questrial"/>
                <a:cs typeface="Questrial"/>
                <a:sym typeface="Questrial"/>
              </a:rPr>
              <a:t>2025</a:t>
            </a:r>
            <a:r>
              <a:rPr lang="en-US" sz="2800">
                <a:solidFill>
                  <a:schemeClr val="dk1"/>
                </a:solidFill>
                <a:latin typeface="Questrial"/>
                <a:ea typeface="Questrial"/>
                <a:cs typeface="Questrial"/>
                <a:sym typeface="Questrial"/>
              </a:rPr>
              <a:t> - The AI Innovation Lab was launched with </a:t>
            </a:r>
            <a:r>
              <a:rPr lang="en-US" sz="2800" b="1">
                <a:solidFill>
                  <a:schemeClr val="dk1"/>
                </a:solidFill>
                <a:latin typeface="Questrial"/>
                <a:ea typeface="Questrial"/>
                <a:cs typeface="Questrial"/>
                <a:sym typeface="Questrial"/>
              </a:rPr>
              <a:t>60 initial AI-skilled roles</a:t>
            </a:r>
            <a:r>
              <a:rPr lang="en-US" sz="2800">
                <a:solidFill>
                  <a:schemeClr val="dk1"/>
                </a:solidFill>
                <a:latin typeface="Questrial"/>
                <a:ea typeface="Questrial"/>
                <a:cs typeface="Questrial"/>
                <a:sym typeface="Questrial"/>
              </a:rPr>
              <a:t>, contributing toward EXL’s broader Ireland hiring target. </a:t>
            </a:r>
            <a:endParaRPr sz="2800">
              <a:latin typeface="Questrial"/>
              <a:ea typeface="Questrial"/>
              <a:cs typeface="Questrial"/>
              <a:sym typeface="Questrial"/>
            </a:endParaRPr>
          </a:p>
          <a:p>
            <a:pPr marL="0" marR="0" lvl="0" indent="0" algn="l" rtl="0">
              <a:spcBef>
                <a:spcPts val="0"/>
              </a:spcBef>
              <a:spcAft>
                <a:spcPts val="0"/>
              </a:spcAft>
              <a:buNone/>
            </a:pPr>
            <a:endParaRPr sz="2800">
              <a:solidFill>
                <a:schemeClr val="dk1"/>
              </a:solidFill>
              <a:latin typeface="Questrial"/>
              <a:ea typeface="Questrial"/>
              <a:cs typeface="Questrial"/>
              <a:sym typeface="Questrial"/>
            </a:endParaRPr>
          </a:p>
        </p:txBody>
      </p:sp>
      <p:grpSp>
        <p:nvGrpSpPr>
          <p:cNvPr id="105" name="Google Shape;105;p1"/>
          <p:cNvGrpSpPr/>
          <p:nvPr/>
        </p:nvGrpSpPr>
        <p:grpSpPr>
          <a:xfrm rot="1589641">
            <a:off x="1623877" y="5235428"/>
            <a:ext cx="4427448" cy="4427448"/>
            <a:chOff x="0" y="0"/>
            <a:chExt cx="812800" cy="812800"/>
          </a:xfrm>
        </p:grpSpPr>
        <p:sp>
          <p:nvSpPr>
            <p:cNvPr id="106" name="Google Shape;106;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FFFF">
                    <a:alpha val="25098"/>
                  </a:srgbClr>
                </a:gs>
                <a:gs pos="100000">
                  <a:srgbClr val="021410">
                    <a:alpha val="25098"/>
                  </a:srgbClr>
                </a:gs>
              </a:gsLst>
              <a:lin ang="0" scaled="0"/>
            </a:gradFill>
            <a:ln>
              <a:noFill/>
            </a:ln>
          </p:spPr>
          <p:txBody>
            <a:bodyPr spcFirstLastPara="1" wrap="square" lIns="190400" tIns="95150" rIns="190400" bIns="95150" anchor="t" anchorCtr="0">
              <a:noAutofit/>
            </a:bodyPr>
            <a:lstStyle/>
            <a:p>
              <a:pPr marL="0" marR="0" lvl="0" indent="0" algn="l" rtl="0">
                <a:spcBef>
                  <a:spcPts val="0"/>
                </a:spcBef>
                <a:spcAft>
                  <a:spcPts val="0"/>
                </a:spcAft>
                <a:buNone/>
              </a:pPr>
              <a:endParaRPr sz="3748">
                <a:solidFill>
                  <a:schemeClr val="dk1"/>
                </a:solidFill>
                <a:latin typeface="Calibri"/>
                <a:ea typeface="Calibri"/>
                <a:cs typeface="Calibri"/>
                <a:sym typeface="Calibri"/>
              </a:endParaRPr>
            </a:p>
          </p:txBody>
        </p:sp>
        <p:sp>
          <p:nvSpPr>
            <p:cNvPr id="107" name="Google Shape;107;p1"/>
            <p:cNvSpPr txBox="1"/>
            <p:nvPr/>
          </p:nvSpPr>
          <p:spPr>
            <a:xfrm>
              <a:off x="76200" y="76200"/>
              <a:ext cx="660300" cy="660300"/>
            </a:xfrm>
            <a:prstGeom prst="rect">
              <a:avLst/>
            </a:prstGeom>
            <a:noFill/>
            <a:ln>
              <a:noFill/>
            </a:ln>
          </p:spPr>
          <p:txBody>
            <a:bodyPr spcFirstLastPara="1" wrap="square" lIns="105775" tIns="105775" rIns="105775" bIns="105775" anchor="ctr" anchorCtr="0">
              <a:noAutofit/>
            </a:bodyPr>
            <a:lstStyle/>
            <a:p>
              <a:pPr marL="0" marR="0" lvl="0" indent="0" algn="ctr" rtl="0">
                <a:lnSpc>
                  <a:spcPct val="266611"/>
                </a:lnSpc>
                <a:spcBef>
                  <a:spcPts val="0"/>
                </a:spcBef>
                <a:spcAft>
                  <a:spcPts val="0"/>
                </a:spcAft>
                <a:buNone/>
              </a:pPr>
              <a:endParaRPr sz="3748">
                <a:solidFill>
                  <a:schemeClr val="dk1"/>
                </a:solidFill>
                <a:latin typeface="Calibri"/>
                <a:ea typeface="Calibri"/>
                <a:cs typeface="Calibri"/>
                <a:sym typeface="Calibri"/>
              </a:endParaRPr>
            </a:p>
          </p:txBody>
        </p:sp>
      </p:grpSp>
      <p:grpSp>
        <p:nvGrpSpPr>
          <p:cNvPr id="108" name="Google Shape;108;p1"/>
          <p:cNvGrpSpPr/>
          <p:nvPr/>
        </p:nvGrpSpPr>
        <p:grpSpPr>
          <a:xfrm rot="1589641">
            <a:off x="755085" y="8087694"/>
            <a:ext cx="4427448" cy="4427448"/>
            <a:chOff x="0" y="0"/>
            <a:chExt cx="812800" cy="812800"/>
          </a:xfrm>
        </p:grpSpPr>
        <p:sp>
          <p:nvSpPr>
            <p:cNvPr id="109" name="Google Shape;109;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FFFF">
                    <a:alpha val="25098"/>
                  </a:srgbClr>
                </a:gs>
                <a:gs pos="100000">
                  <a:srgbClr val="021410">
                    <a:alpha val="25098"/>
                  </a:srgbClr>
                </a:gs>
              </a:gsLst>
              <a:lin ang="0" scaled="0"/>
            </a:gradFill>
            <a:ln>
              <a:noFill/>
            </a:ln>
          </p:spPr>
          <p:txBody>
            <a:bodyPr spcFirstLastPara="1" wrap="square" lIns="190400" tIns="95150" rIns="190400" bIns="95150" anchor="t" anchorCtr="0">
              <a:noAutofit/>
            </a:bodyPr>
            <a:lstStyle/>
            <a:p>
              <a:pPr marL="0" marR="0" lvl="0" indent="0" algn="l" rtl="0">
                <a:spcBef>
                  <a:spcPts val="0"/>
                </a:spcBef>
                <a:spcAft>
                  <a:spcPts val="0"/>
                </a:spcAft>
                <a:buNone/>
              </a:pPr>
              <a:endParaRPr sz="3748">
                <a:solidFill>
                  <a:schemeClr val="dk1"/>
                </a:solidFill>
                <a:latin typeface="Calibri"/>
                <a:ea typeface="Calibri"/>
                <a:cs typeface="Calibri"/>
                <a:sym typeface="Calibri"/>
              </a:endParaRPr>
            </a:p>
          </p:txBody>
        </p:sp>
        <p:sp>
          <p:nvSpPr>
            <p:cNvPr id="110" name="Google Shape;110;p1"/>
            <p:cNvSpPr txBox="1"/>
            <p:nvPr/>
          </p:nvSpPr>
          <p:spPr>
            <a:xfrm>
              <a:off x="76200" y="76200"/>
              <a:ext cx="660300" cy="660300"/>
            </a:xfrm>
            <a:prstGeom prst="rect">
              <a:avLst/>
            </a:prstGeom>
            <a:noFill/>
            <a:ln>
              <a:noFill/>
            </a:ln>
          </p:spPr>
          <p:txBody>
            <a:bodyPr spcFirstLastPara="1" wrap="square" lIns="105775" tIns="105775" rIns="105775" bIns="105775" anchor="ctr" anchorCtr="0">
              <a:noAutofit/>
            </a:bodyPr>
            <a:lstStyle/>
            <a:p>
              <a:pPr marL="0" marR="0" lvl="0" indent="0" algn="ctr" rtl="0">
                <a:lnSpc>
                  <a:spcPct val="266611"/>
                </a:lnSpc>
                <a:spcBef>
                  <a:spcPts val="0"/>
                </a:spcBef>
                <a:spcAft>
                  <a:spcPts val="0"/>
                </a:spcAft>
                <a:buNone/>
              </a:pPr>
              <a:endParaRPr sz="3748">
                <a:solidFill>
                  <a:schemeClr val="dk1"/>
                </a:solidFill>
                <a:latin typeface="Calibri"/>
                <a:ea typeface="Calibri"/>
                <a:cs typeface="Calibri"/>
                <a:sym typeface="Calibri"/>
              </a:endParaRPr>
            </a:p>
          </p:txBody>
        </p:sp>
      </p:grpSp>
      <p:sp>
        <p:nvSpPr>
          <p:cNvPr id="111" name="Google Shape;111;p1"/>
          <p:cNvSpPr txBox="1"/>
          <p:nvPr/>
        </p:nvSpPr>
        <p:spPr>
          <a:xfrm>
            <a:off x="15392400" y="6705600"/>
            <a:ext cx="1524000" cy="88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6548">
              <a:solidFill>
                <a:schemeClr val="dk1"/>
              </a:solidFill>
              <a:latin typeface="Calibri"/>
              <a:ea typeface="Calibri"/>
              <a:cs typeface="Calibri"/>
              <a:sym typeface="Calibri"/>
            </a:endParaRPr>
          </a:p>
        </p:txBody>
      </p:sp>
      <p:pic>
        <p:nvPicPr>
          <p:cNvPr id="112" name="Google Shape;112;p1" title="images.png"/>
          <p:cNvPicPr preferRelativeResize="0"/>
          <p:nvPr/>
        </p:nvPicPr>
        <p:blipFill>
          <a:blip r:embed="rId4">
            <a:alphaModFix/>
          </a:blip>
          <a:stretch>
            <a:fillRect/>
          </a:stretch>
        </p:blipFill>
        <p:spPr>
          <a:xfrm>
            <a:off x="15318551" y="6806438"/>
            <a:ext cx="2428875" cy="1285412"/>
          </a:xfrm>
          <a:prstGeom prst="rect">
            <a:avLst/>
          </a:prstGeom>
          <a:noFill/>
          <a:ln>
            <a:noFill/>
          </a:ln>
        </p:spPr>
      </p:pic>
      <p:pic>
        <p:nvPicPr>
          <p:cNvPr id="113" name="Google Shape;113;p1" title="CeADARLogo.jpg"/>
          <p:cNvPicPr preferRelativeResize="0"/>
          <p:nvPr/>
        </p:nvPicPr>
        <p:blipFill>
          <a:blip r:embed="rId5">
            <a:alphaModFix/>
          </a:blip>
          <a:stretch>
            <a:fillRect/>
          </a:stretch>
        </p:blipFill>
        <p:spPr>
          <a:xfrm>
            <a:off x="15566074" y="11247686"/>
            <a:ext cx="2199740" cy="1958200"/>
          </a:xfrm>
          <a:prstGeom prst="rect">
            <a:avLst/>
          </a:prstGeom>
          <a:noFill/>
          <a:ln>
            <a:noFill/>
          </a:ln>
        </p:spPr>
      </p:pic>
      <p:pic>
        <p:nvPicPr>
          <p:cNvPr id="114" name="Google Shape;114;p1" title="maxresdefault.jpg"/>
          <p:cNvPicPr preferRelativeResize="0"/>
          <p:nvPr/>
        </p:nvPicPr>
        <p:blipFill>
          <a:blip r:embed="rId6">
            <a:alphaModFix/>
          </a:blip>
          <a:stretch>
            <a:fillRect/>
          </a:stretch>
        </p:blipFill>
        <p:spPr>
          <a:xfrm>
            <a:off x="2623159" y="6464075"/>
            <a:ext cx="2428874" cy="1366254"/>
          </a:xfrm>
          <a:prstGeom prst="rect">
            <a:avLst/>
          </a:prstGeom>
          <a:noFill/>
          <a:ln>
            <a:noFill/>
          </a:ln>
        </p:spPr>
      </p:pic>
      <p:pic>
        <p:nvPicPr>
          <p:cNvPr id="115" name="Google Shape;115;p1" title="cropped-ucd-logo-small.jpg"/>
          <p:cNvPicPr preferRelativeResize="0"/>
          <p:nvPr/>
        </p:nvPicPr>
        <p:blipFill>
          <a:blip r:embed="rId7">
            <a:alphaModFix/>
          </a:blip>
          <a:stretch>
            <a:fillRect/>
          </a:stretch>
        </p:blipFill>
        <p:spPr>
          <a:xfrm>
            <a:off x="1684675" y="9464600"/>
            <a:ext cx="2370350" cy="1851226"/>
          </a:xfrm>
          <a:prstGeom prst="rect">
            <a:avLst/>
          </a:prstGeom>
          <a:noFill/>
          <a:ln>
            <a:noFill/>
          </a:ln>
        </p:spPr>
      </p:pic>
      <p:pic>
        <p:nvPicPr>
          <p:cNvPr id="116" name="Google Shape;116;p1" title="Trinity-Main-Logo.jpg"/>
          <p:cNvPicPr preferRelativeResize="0"/>
          <p:nvPr/>
        </p:nvPicPr>
        <p:blipFill>
          <a:blip r:embed="rId8">
            <a:alphaModFix/>
          </a:blip>
          <a:stretch>
            <a:fillRect/>
          </a:stretch>
        </p:blipFill>
        <p:spPr>
          <a:xfrm>
            <a:off x="3258152" y="12792896"/>
            <a:ext cx="2884135" cy="995050"/>
          </a:xfrm>
          <a:prstGeom prst="rect">
            <a:avLst/>
          </a:prstGeom>
          <a:noFill/>
          <a:ln>
            <a:noFill/>
          </a:ln>
        </p:spPr>
      </p:pic>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396</Words>
  <Application>Microsoft Office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Questrial</vt:lpstr>
      <vt:lpstr>Office 2013 - 2022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Allen Higgins</dc:creator>
  <cp:lastModifiedBy>Asus</cp:lastModifiedBy>
  <cp:revision>1</cp:revision>
  <dcterms:created xsi:type="dcterms:W3CDTF">2020-01-28T16:26:11Z</dcterms:created>
  <dcterms:modified xsi:type="dcterms:W3CDTF">2026-04-12T09:00:53Z</dcterms:modified>
</cp:coreProperties>
</file>